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notesMasterIdLst>
    <p:notesMasterId r:id="rId8"/>
  </p:notesMasterIdLst>
  <p:handoutMasterIdLst>
    <p:handoutMasterId r:id="rId9"/>
  </p:handoutMasterIdLst>
  <p:sldIdLst>
    <p:sldId id="262" r:id="rId2"/>
    <p:sldId id="263" r:id="rId3"/>
    <p:sldId id="265" r:id="rId4"/>
    <p:sldId id="264" r:id="rId5"/>
    <p:sldId id="258" r:id="rId6"/>
    <p:sldId id="260" r:id="rId7"/>
  </p:sldIdLst>
  <p:sldSz cx="12192000" cy="6858000"/>
  <p:notesSz cx="6858000" cy="9144000"/>
  <p:defaultTextStyle>
    <a:defPPr rtl="0">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419" autoAdjust="0"/>
  </p:normalViewPr>
  <p:slideViewPr>
    <p:cSldViewPr snapToGrid="0">
      <p:cViewPr varScale="1">
        <p:scale>
          <a:sx n="117" d="100"/>
          <a:sy n="117" d="100"/>
        </p:scale>
        <p:origin x="1986" y="11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2" d="100"/>
          <a:sy n="82" d="100"/>
        </p:scale>
        <p:origin x="391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0NoLn">
    <dgm:fillClrLst meth="repeat">
      <a:schemeClr val="accent2"/>
    </dgm:fillClrLst>
    <dgm:linClrLst meth="repeat">
      <a:schemeClr val="lt1">
        <a:alpha val="0"/>
      </a:schemeClr>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1NoLn">
    <dgm:fillClrLst>
      <a:schemeClr val="accent3"/>
      <a:schemeClr val="accent4"/>
    </dgm:fillClrLst>
    <dgm:linClrLst meth="repeat">
      <a:schemeClr val="lt1">
        <a:alpha val="0"/>
      </a:schemeClr>
    </dgm:linClrLst>
    <dgm:effectClrLst/>
    <dgm:txLinClrLst/>
    <dgm:txFillClrLst/>
    <dgm:txEffectClrLst/>
  </dgm:styleLbl>
  <dgm:styleLbl name="ltNode1NoLn">
    <dgm:fillClrLst>
      <a:schemeClr val="accent3">
        <a:tint val="75000"/>
      </a:schemeClr>
      <a:schemeClr val="accent4">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2NoLn">
    <dgm:fillClrLst>
      <a:schemeClr val="accent4"/>
    </dgm:fillClrLst>
    <dgm:linClrLst meth="repeat">
      <a:schemeClr val="lt1">
        <a:alpha val="0"/>
      </a:schemeClr>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3NoLn">
    <dgm:fillClrLst>
      <a:schemeClr val="accent5"/>
    </dgm:fillClrLst>
    <dgm:linClrLst meth="repeat">
      <a:schemeClr val="lt1">
        <a:alpha val="0"/>
      </a:schemeClr>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node4NoLn">
    <dgm:fillClrLst>
      <a:schemeClr val="accent6"/>
    </dgm:fillClrLst>
    <dgm:linClrLst meth="repeat">
      <a:schemeClr val="lt1">
        <a:alpha val="0"/>
      </a:schemeClr>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5/8/layout/process1" loCatId="process" qsTypeId="urn:microsoft.com/office/officeart/2005/8/quickstyle/simple4#27" qsCatId="simple" csTypeId="urn:microsoft.com/office/officeart/2005/8/colors/colorful3" csCatId="colorful" phldr="1"/>
      <dgm:spPr/>
      <dgm:t>
        <a:bodyPr rtlCol="0"/>
        <a:lstStyle/>
        <a:p>
          <a:pPr rtl="0"/>
          <a:endParaRPr lang="en-US"/>
        </a:p>
      </dgm:t>
    </dgm:pt>
    <dgm:pt modelId="{9E656E13-1BFD-46B9-998F-E1AB9ACB1A85}">
      <dgm:prSet/>
      <dgm:spPr/>
      <dgm:t>
        <a:bodyPr/>
        <a:lstStyle/>
        <a:p>
          <a:r>
            <a:rPr lang="en-US" b="1" dirty="0"/>
            <a:t>Chunks</a:t>
          </a:r>
          <a:endParaRPr lang="en-US" dirty="0"/>
        </a:p>
      </dgm:t>
    </dgm:pt>
    <dgm:pt modelId="{D7534038-D173-4926-95A9-441238CA85F5}" type="parTrans" cxnId="{AAD93838-56CA-4BC7-9F38-9F58C243DFA9}">
      <dgm:prSet/>
      <dgm:spPr/>
      <dgm:t>
        <a:bodyPr/>
        <a:lstStyle/>
        <a:p>
          <a:endParaRPr lang="sv-SE"/>
        </a:p>
      </dgm:t>
    </dgm:pt>
    <dgm:pt modelId="{DBF3FD94-0772-4841-A5ED-D156E5561555}" type="sibTrans" cxnId="{AAD93838-56CA-4BC7-9F38-9F58C243DFA9}">
      <dgm:prSet/>
      <dgm:spPr/>
      <dgm:t>
        <a:bodyPr/>
        <a:lstStyle/>
        <a:p>
          <a:endParaRPr lang="sv-SE"/>
        </a:p>
      </dgm:t>
    </dgm:pt>
    <dgm:pt modelId="{27BE81BB-3E49-4C2F-B839-4C3408BC9ABE}">
      <dgm:prSet/>
      <dgm:spPr/>
      <dgm:t>
        <a:bodyPr/>
        <a:lstStyle/>
        <a:p>
          <a:r>
            <a:rPr lang="en-US" b="1" dirty="0"/>
            <a:t>Vektor</a:t>
          </a:r>
          <a:endParaRPr lang="en-US" dirty="0"/>
        </a:p>
      </dgm:t>
    </dgm:pt>
    <dgm:pt modelId="{08A66F51-3EA8-4979-9D53-A92F92431E5E}" type="parTrans" cxnId="{284CF172-55F8-47C5-8942-8E6F4191B27A}">
      <dgm:prSet/>
      <dgm:spPr/>
      <dgm:t>
        <a:bodyPr/>
        <a:lstStyle/>
        <a:p>
          <a:endParaRPr lang="sv-SE"/>
        </a:p>
      </dgm:t>
    </dgm:pt>
    <dgm:pt modelId="{0AB7E0E1-D6B0-4E0C-B46E-DAE6AF84999E}" type="sibTrans" cxnId="{284CF172-55F8-47C5-8942-8E6F4191B27A}">
      <dgm:prSet/>
      <dgm:spPr/>
      <dgm:t>
        <a:bodyPr/>
        <a:lstStyle/>
        <a:p>
          <a:endParaRPr lang="sv-SE"/>
        </a:p>
      </dgm:t>
    </dgm:pt>
    <dgm:pt modelId="{1639B6F7-4CB1-4206-92E9-E563822D14C8}">
      <dgm:prSet/>
      <dgm:spPr/>
      <dgm:t>
        <a:bodyPr/>
        <a:lstStyle/>
        <a:p>
          <a:r>
            <a:rPr lang="en-US" b="1"/>
            <a:t>Embedding </a:t>
          </a:r>
          <a:endParaRPr lang="en-US" dirty="0"/>
        </a:p>
      </dgm:t>
    </dgm:pt>
    <dgm:pt modelId="{53E98267-10EE-4C6F-885B-E0369BC2E0D0}" type="parTrans" cxnId="{D2B2344C-6772-4CE5-9C27-D00D5094F3DF}">
      <dgm:prSet/>
      <dgm:spPr/>
      <dgm:t>
        <a:bodyPr/>
        <a:lstStyle/>
        <a:p>
          <a:endParaRPr lang="sv-SE"/>
        </a:p>
      </dgm:t>
    </dgm:pt>
    <dgm:pt modelId="{CA321B1D-E007-44E4-9F06-1CE020664B67}" type="sibTrans" cxnId="{D2B2344C-6772-4CE5-9C27-D00D5094F3DF}">
      <dgm:prSet/>
      <dgm:spPr/>
      <dgm:t>
        <a:bodyPr/>
        <a:lstStyle/>
        <a:p>
          <a:endParaRPr lang="sv-SE"/>
        </a:p>
      </dgm:t>
    </dgm:pt>
    <dgm:pt modelId="{64EBECBB-41A2-4855-8F9F-81AFD675E2F5}" type="pres">
      <dgm:prSet presAssocID="{7E5AA53B-3EEE-4DE4-BB81-9044890C2946}" presName="Name0" presStyleCnt="0">
        <dgm:presLayoutVars>
          <dgm:dir/>
          <dgm:resizeHandles val="exact"/>
        </dgm:presLayoutVars>
      </dgm:prSet>
      <dgm:spPr/>
    </dgm:pt>
    <dgm:pt modelId="{C9DD3C47-4F17-4F55-88D8-0332DFCC8C99}" type="pres">
      <dgm:prSet presAssocID="{9E656E13-1BFD-46B9-998F-E1AB9ACB1A85}" presName="node" presStyleLbl="node1" presStyleIdx="0" presStyleCnt="3">
        <dgm:presLayoutVars>
          <dgm:bulletEnabled val="1"/>
        </dgm:presLayoutVars>
      </dgm:prSet>
      <dgm:spPr/>
    </dgm:pt>
    <dgm:pt modelId="{43F47F4A-84D7-482D-BC75-EBB07F3B0B36}" type="pres">
      <dgm:prSet presAssocID="{DBF3FD94-0772-4841-A5ED-D156E5561555}" presName="sibTrans" presStyleLbl="sibTrans2D1" presStyleIdx="0" presStyleCnt="2"/>
      <dgm:spPr/>
    </dgm:pt>
    <dgm:pt modelId="{338E8314-E250-4D9A-8B95-B7CFEFA2DEAF}" type="pres">
      <dgm:prSet presAssocID="{DBF3FD94-0772-4841-A5ED-D156E5561555}" presName="connectorText" presStyleLbl="sibTrans2D1" presStyleIdx="0" presStyleCnt="2"/>
      <dgm:spPr/>
    </dgm:pt>
    <dgm:pt modelId="{B25B86CA-66DE-4470-91B7-0F4F213DFE71}" type="pres">
      <dgm:prSet presAssocID="{1639B6F7-4CB1-4206-92E9-E563822D14C8}" presName="node" presStyleLbl="node1" presStyleIdx="1" presStyleCnt="3">
        <dgm:presLayoutVars>
          <dgm:bulletEnabled val="1"/>
        </dgm:presLayoutVars>
      </dgm:prSet>
      <dgm:spPr/>
    </dgm:pt>
    <dgm:pt modelId="{DE11A59B-692C-4B32-A479-46EC693770A8}" type="pres">
      <dgm:prSet presAssocID="{CA321B1D-E007-44E4-9F06-1CE020664B67}" presName="sibTrans" presStyleLbl="sibTrans2D1" presStyleIdx="1" presStyleCnt="2"/>
      <dgm:spPr/>
    </dgm:pt>
    <dgm:pt modelId="{6063A592-3570-44EB-9C78-F53C80DB5417}" type="pres">
      <dgm:prSet presAssocID="{CA321B1D-E007-44E4-9F06-1CE020664B67}" presName="connectorText" presStyleLbl="sibTrans2D1" presStyleIdx="1" presStyleCnt="2"/>
      <dgm:spPr/>
    </dgm:pt>
    <dgm:pt modelId="{16D7BD47-08A8-431D-8EFA-516761D3893D}" type="pres">
      <dgm:prSet presAssocID="{27BE81BB-3E49-4C2F-B839-4C3408BC9ABE}" presName="node" presStyleLbl="node1" presStyleIdx="2" presStyleCnt="3">
        <dgm:presLayoutVars>
          <dgm:bulletEnabled val="1"/>
        </dgm:presLayoutVars>
      </dgm:prSet>
      <dgm:spPr/>
    </dgm:pt>
  </dgm:ptLst>
  <dgm:cxnLst>
    <dgm:cxn modelId="{AAD93838-56CA-4BC7-9F38-9F58C243DFA9}" srcId="{7E5AA53B-3EEE-4DE4-BB81-9044890C2946}" destId="{9E656E13-1BFD-46B9-998F-E1AB9ACB1A85}" srcOrd="0" destOrd="0" parTransId="{D7534038-D173-4926-95A9-441238CA85F5}" sibTransId="{DBF3FD94-0772-4841-A5ED-D156E5561555}"/>
    <dgm:cxn modelId="{8B95B040-CB06-4367-AC62-EC9EB62FB578}" type="presOf" srcId="{DBF3FD94-0772-4841-A5ED-D156E5561555}" destId="{338E8314-E250-4D9A-8B95-B7CFEFA2DEAF}" srcOrd="1" destOrd="0" presId="urn:microsoft.com/office/officeart/2005/8/layout/process1"/>
    <dgm:cxn modelId="{E96D6468-6ED9-4251-8CD1-B1B4537DF3D3}" type="presOf" srcId="{1639B6F7-4CB1-4206-92E9-E563822D14C8}" destId="{B25B86CA-66DE-4470-91B7-0F4F213DFE71}" srcOrd="0" destOrd="0" presId="urn:microsoft.com/office/officeart/2005/8/layout/process1"/>
    <dgm:cxn modelId="{D2B2344C-6772-4CE5-9C27-D00D5094F3DF}" srcId="{7E5AA53B-3EEE-4DE4-BB81-9044890C2946}" destId="{1639B6F7-4CB1-4206-92E9-E563822D14C8}" srcOrd="1" destOrd="0" parTransId="{53E98267-10EE-4C6F-885B-E0369BC2E0D0}" sibTransId="{CA321B1D-E007-44E4-9F06-1CE020664B67}"/>
    <dgm:cxn modelId="{F173696E-D919-487B-BF1A-E52E5FFF07D2}" type="presOf" srcId="{DBF3FD94-0772-4841-A5ED-D156E5561555}" destId="{43F47F4A-84D7-482D-BC75-EBB07F3B0B36}" srcOrd="0" destOrd="0" presId="urn:microsoft.com/office/officeart/2005/8/layout/process1"/>
    <dgm:cxn modelId="{284CF172-55F8-47C5-8942-8E6F4191B27A}" srcId="{7E5AA53B-3EEE-4DE4-BB81-9044890C2946}" destId="{27BE81BB-3E49-4C2F-B839-4C3408BC9ABE}" srcOrd="2" destOrd="0" parTransId="{08A66F51-3EA8-4979-9D53-A92F92431E5E}" sibTransId="{0AB7E0E1-D6B0-4E0C-B46E-DAE6AF84999E}"/>
    <dgm:cxn modelId="{FDB96955-F4F2-4255-88B3-128EF903C0C7}" type="presOf" srcId="{27BE81BB-3E49-4C2F-B839-4C3408BC9ABE}" destId="{16D7BD47-08A8-431D-8EFA-516761D3893D}" srcOrd="0" destOrd="0" presId="urn:microsoft.com/office/officeart/2005/8/layout/process1"/>
    <dgm:cxn modelId="{999D4A83-E4BA-4BAC-8195-B2FA18F35691}" type="presOf" srcId="{CA321B1D-E007-44E4-9F06-1CE020664B67}" destId="{DE11A59B-692C-4B32-A479-46EC693770A8}" srcOrd="0" destOrd="0" presId="urn:microsoft.com/office/officeart/2005/8/layout/process1"/>
    <dgm:cxn modelId="{21C0D792-AC50-41AB-BF1D-90D70DCE1F66}" type="presOf" srcId="{CA321B1D-E007-44E4-9F06-1CE020664B67}" destId="{6063A592-3570-44EB-9C78-F53C80DB5417}" srcOrd="1" destOrd="0" presId="urn:microsoft.com/office/officeart/2005/8/layout/process1"/>
    <dgm:cxn modelId="{3E9033B8-595F-4499-A627-B97E50B1A5C4}" type="presOf" srcId="{9E656E13-1BFD-46B9-998F-E1AB9ACB1A85}" destId="{C9DD3C47-4F17-4F55-88D8-0332DFCC8C99}" srcOrd="0" destOrd="0" presId="urn:microsoft.com/office/officeart/2005/8/layout/process1"/>
    <dgm:cxn modelId="{3126D1E5-0BDB-4E95-AAAC-C4A3C24FCECC}" type="presOf" srcId="{7E5AA53B-3EEE-4DE4-BB81-9044890C2946}" destId="{64EBECBB-41A2-4855-8F9F-81AFD675E2F5}" srcOrd="0" destOrd="0" presId="urn:microsoft.com/office/officeart/2005/8/layout/process1"/>
    <dgm:cxn modelId="{707A5A13-B793-4257-8A36-8DE39AEA2756}" type="presParOf" srcId="{64EBECBB-41A2-4855-8F9F-81AFD675E2F5}" destId="{C9DD3C47-4F17-4F55-88D8-0332DFCC8C99}" srcOrd="0" destOrd="0" presId="urn:microsoft.com/office/officeart/2005/8/layout/process1"/>
    <dgm:cxn modelId="{971D3916-1DE1-4EEC-8CEE-DB4CA9238642}" type="presParOf" srcId="{64EBECBB-41A2-4855-8F9F-81AFD675E2F5}" destId="{43F47F4A-84D7-482D-BC75-EBB07F3B0B36}" srcOrd="1" destOrd="0" presId="urn:microsoft.com/office/officeart/2005/8/layout/process1"/>
    <dgm:cxn modelId="{42EA86CA-2337-449A-8E86-4AE7E5F5193F}" type="presParOf" srcId="{43F47F4A-84D7-482D-BC75-EBB07F3B0B36}" destId="{338E8314-E250-4D9A-8B95-B7CFEFA2DEAF}" srcOrd="0" destOrd="0" presId="urn:microsoft.com/office/officeart/2005/8/layout/process1"/>
    <dgm:cxn modelId="{3000D49A-DF9A-4A89-B9B7-56DA09A341CB}" type="presParOf" srcId="{64EBECBB-41A2-4855-8F9F-81AFD675E2F5}" destId="{B25B86CA-66DE-4470-91B7-0F4F213DFE71}" srcOrd="2" destOrd="0" presId="urn:microsoft.com/office/officeart/2005/8/layout/process1"/>
    <dgm:cxn modelId="{4982C585-3FFA-4E8F-816D-45D2FA37C5E1}" type="presParOf" srcId="{64EBECBB-41A2-4855-8F9F-81AFD675E2F5}" destId="{DE11A59B-692C-4B32-A479-46EC693770A8}" srcOrd="3" destOrd="0" presId="urn:microsoft.com/office/officeart/2005/8/layout/process1"/>
    <dgm:cxn modelId="{D51A8138-2DE1-4BA1-9117-261169C8C459}" type="presParOf" srcId="{DE11A59B-692C-4B32-A479-46EC693770A8}" destId="{6063A592-3570-44EB-9C78-F53C80DB5417}" srcOrd="0" destOrd="0" presId="urn:microsoft.com/office/officeart/2005/8/layout/process1"/>
    <dgm:cxn modelId="{6D3C0E43-E5D0-41EC-95A3-F1DEDE791B38}" type="presParOf" srcId="{64EBECBB-41A2-4855-8F9F-81AFD675E2F5}" destId="{16D7BD47-08A8-431D-8EFA-516761D3893D}"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DD3C47-4F17-4F55-88D8-0332DFCC8C99}">
      <dsp:nvSpPr>
        <dsp:cNvPr id="0" name=""/>
        <dsp:cNvSpPr/>
      </dsp:nvSpPr>
      <dsp:spPr>
        <a:xfrm>
          <a:off x="6024" y="1241795"/>
          <a:ext cx="1800578" cy="1080347"/>
        </a:xfrm>
        <a:prstGeom prst="roundRect">
          <a:avLst>
            <a:gd name="adj" fmla="val 1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rtlCol="0" anchor="ctr" anchorCtr="0">
          <a:noAutofit/>
        </a:bodyPr>
        <a:lstStyle/>
        <a:p>
          <a:pPr marL="0" lvl="0" indent="0" algn="ctr" defTabSz="1022350">
            <a:lnSpc>
              <a:spcPct val="90000"/>
            </a:lnSpc>
            <a:spcBef>
              <a:spcPct val="0"/>
            </a:spcBef>
            <a:spcAft>
              <a:spcPct val="35000"/>
            </a:spcAft>
            <a:buNone/>
          </a:pPr>
          <a:r>
            <a:rPr lang="en-US" sz="2300" b="1" kern="1200" dirty="0"/>
            <a:t>Chunks</a:t>
          </a:r>
          <a:endParaRPr lang="en-US" sz="2300" kern="1200" dirty="0"/>
        </a:p>
      </dsp:txBody>
      <dsp:txXfrm>
        <a:off x="37666" y="1273437"/>
        <a:ext cx="1737294" cy="1017063"/>
      </dsp:txXfrm>
    </dsp:sp>
    <dsp:sp modelId="{43F47F4A-84D7-482D-BC75-EBB07F3B0B36}">
      <dsp:nvSpPr>
        <dsp:cNvPr id="0" name=""/>
        <dsp:cNvSpPr/>
      </dsp:nvSpPr>
      <dsp:spPr>
        <a:xfrm>
          <a:off x="1986660" y="1558697"/>
          <a:ext cx="381722" cy="446543"/>
        </a:xfrm>
        <a:prstGeom prst="rightArrow">
          <a:avLst>
            <a:gd name="adj1" fmla="val 60000"/>
            <a:gd name="adj2" fmla="val 50000"/>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sv-SE" sz="1800" kern="1200"/>
        </a:p>
      </dsp:txBody>
      <dsp:txXfrm>
        <a:off x="1986660" y="1648006"/>
        <a:ext cx="267205" cy="267925"/>
      </dsp:txXfrm>
    </dsp:sp>
    <dsp:sp modelId="{B25B86CA-66DE-4470-91B7-0F4F213DFE71}">
      <dsp:nvSpPr>
        <dsp:cNvPr id="0" name=""/>
        <dsp:cNvSpPr/>
      </dsp:nvSpPr>
      <dsp:spPr>
        <a:xfrm>
          <a:off x="2526834" y="1241795"/>
          <a:ext cx="1800578" cy="1080347"/>
        </a:xfrm>
        <a:prstGeom prst="roundRect">
          <a:avLst>
            <a:gd name="adj" fmla="val 10000"/>
          </a:avLst>
        </a:prstGeom>
        <a:gradFill rotWithShape="0">
          <a:gsLst>
            <a:gs pos="0">
              <a:schemeClr val="accent3">
                <a:hueOff val="526940"/>
                <a:satOff val="-34591"/>
                <a:lumOff val="1569"/>
                <a:alphaOff val="0"/>
                <a:tint val="98000"/>
                <a:lumMod val="110000"/>
              </a:schemeClr>
            </a:gs>
            <a:gs pos="84000">
              <a:schemeClr val="accent3">
                <a:hueOff val="526940"/>
                <a:satOff val="-34591"/>
                <a:lumOff val="1569"/>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a:t>Embedding </a:t>
          </a:r>
          <a:endParaRPr lang="en-US" sz="2300" kern="1200" dirty="0"/>
        </a:p>
      </dsp:txBody>
      <dsp:txXfrm>
        <a:off x="2558476" y="1273437"/>
        <a:ext cx="1737294" cy="1017063"/>
      </dsp:txXfrm>
    </dsp:sp>
    <dsp:sp modelId="{DE11A59B-692C-4B32-A479-46EC693770A8}">
      <dsp:nvSpPr>
        <dsp:cNvPr id="0" name=""/>
        <dsp:cNvSpPr/>
      </dsp:nvSpPr>
      <dsp:spPr>
        <a:xfrm>
          <a:off x="4507471" y="1558697"/>
          <a:ext cx="381722" cy="446543"/>
        </a:xfrm>
        <a:prstGeom prst="rightArrow">
          <a:avLst>
            <a:gd name="adj1" fmla="val 60000"/>
            <a:gd name="adj2" fmla="val 50000"/>
          </a:avLst>
        </a:prstGeom>
        <a:gradFill rotWithShape="0">
          <a:gsLst>
            <a:gs pos="0">
              <a:schemeClr val="accent3">
                <a:hueOff val="1053880"/>
                <a:satOff val="-69182"/>
                <a:lumOff val="3138"/>
                <a:alphaOff val="0"/>
                <a:tint val="98000"/>
                <a:lumMod val="110000"/>
              </a:schemeClr>
            </a:gs>
            <a:gs pos="84000">
              <a:schemeClr val="accent3">
                <a:hueOff val="1053880"/>
                <a:satOff val="-69182"/>
                <a:lumOff val="3138"/>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sv-SE" sz="1800" kern="1200"/>
        </a:p>
      </dsp:txBody>
      <dsp:txXfrm>
        <a:off x="4507471" y="1648006"/>
        <a:ext cx="267205" cy="267925"/>
      </dsp:txXfrm>
    </dsp:sp>
    <dsp:sp modelId="{16D7BD47-08A8-431D-8EFA-516761D3893D}">
      <dsp:nvSpPr>
        <dsp:cNvPr id="0" name=""/>
        <dsp:cNvSpPr/>
      </dsp:nvSpPr>
      <dsp:spPr>
        <a:xfrm>
          <a:off x="5047644" y="1241795"/>
          <a:ext cx="1800578" cy="1080347"/>
        </a:xfrm>
        <a:prstGeom prst="roundRect">
          <a:avLst>
            <a:gd name="adj" fmla="val 10000"/>
          </a:avLst>
        </a:prstGeom>
        <a:gradFill rotWithShape="0">
          <a:gsLst>
            <a:gs pos="0">
              <a:schemeClr val="accent3">
                <a:hueOff val="1053880"/>
                <a:satOff val="-69182"/>
                <a:lumOff val="3138"/>
                <a:alphaOff val="0"/>
                <a:tint val="98000"/>
                <a:lumMod val="110000"/>
              </a:schemeClr>
            </a:gs>
            <a:gs pos="84000">
              <a:schemeClr val="accent3">
                <a:hueOff val="1053880"/>
                <a:satOff val="-69182"/>
                <a:lumOff val="3138"/>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t>Vektor</a:t>
          </a:r>
          <a:endParaRPr lang="en-US" sz="2300" kern="1200" dirty="0"/>
        </a:p>
      </dsp:txBody>
      <dsp:txXfrm>
        <a:off x="5079286" y="1273437"/>
        <a:ext cx="1737294" cy="101706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27">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a:p>
        </p:txBody>
      </p:sp>
      <p:sp>
        <p:nvSpPr>
          <p:cNvPr id="3" name="Platshållare för datum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0E8C04-2B3A-43E3-AA15-27B2295511E7}" type="datetime1">
              <a:rPr lang="sv-SE" smtClean="0"/>
              <a:t>2026-09-24</a:t>
            </a:fld>
            <a:endParaRPr lang="sv-SE"/>
          </a:p>
        </p:txBody>
      </p:sp>
      <p:sp>
        <p:nvSpPr>
          <p:cNvPr id="4" name="Platshållare för sidfot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a:p>
        </p:txBody>
      </p:sp>
      <p:sp>
        <p:nvSpPr>
          <p:cNvPr id="5" name="Platshållare för bildnumm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sv-SE" smtClean="0"/>
              <a:t>‹#›</a:t>
            </a:fld>
            <a:endParaRPr lang="sv-SE"/>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sv-SE" noProof="0"/>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8B20316A-1642-487C-A38D-E918FFCD580A}" type="datetime1">
              <a:rPr lang="sv-SE" noProof="0" smtClean="0"/>
              <a:t>2026-09-24</a:t>
            </a:fld>
            <a:endParaRPr lang="sv-SE" noProof="0"/>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sv-SE" noProof="0"/>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sv-SE" noProof="0"/>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sv-SE" noProof="0" smtClean="0"/>
              <a:t>‹#›</a:t>
            </a:fld>
            <a:endParaRPr lang="sv-SE"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Hej allihopa och välkomna till mitt projekt i RAG.</a:t>
            </a:r>
          </a:p>
          <a:p>
            <a:endParaRPr lang="sv-SE" dirty="0"/>
          </a:p>
          <a:p>
            <a:r>
              <a:rPr lang="sv-SE" dirty="0"/>
              <a:t>RAG står för Retrieval-Augmented Generation och är en teknik  som kan användas av språkmodeller för att hämta relevant information från en extern kunskapskälla och sedan använder den informationen som kontext för att generera ett svar. </a:t>
            </a:r>
          </a:p>
          <a:p>
            <a:r>
              <a:rPr lang="sv-SE" dirty="0"/>
              <a:t>Det är ett bra alternativ mot att behöva träna om språkmodellen gör det lättare att veta var informationen kommer ifrån och kan hjälpa att minska hallucinationer. </a:t>
            </a:r>
          </a:p>
        </p:txBody>
      </p:sp>
      <p:sp>
        <p:nvSpPr>
          <p:cNvPr id="4" name="Slide Number Placeholder 3"/>
          <p:cNvSpPr>
            <a:spLocks noGrp="1"/>
          </p:cNvSpPr>
          <p:nvPr>
            <p:ph type="sldNum" sz="quarter" idx="5"/>
          </p:nvPr>
        </p:nvSpPr>
        <p:spPr/>
        <p:txBody>
          <a:bodyPr/>
          <a:lstStyle/>
          <a:p>
            <a:pPr rtl="0"/>
            <a:fld id="{C6B3AB32-59DF-41F1-9618-EDFBF5049629}" type="slidenum">
              <a:rPr lang="sv-SE" noProof="0" smtClean="0"/>
              <a:t>1</a:t>
            </a:fld>
            <a:endParaRPr lang="sv-SE" noProof="0"/>
          </a:p>
        </p:txBody>
      </p:sp>
    </p:spTree>
    <p:extLst>
      <p:ext uri="{BB962C8B-B14F-4D97-AF65-F5344CB8AC3E}">
        <p14:creationId xmlns:p14="http://schemas.microsoft.com/office/powerpoint/2010/main" val="2518669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128CA-097E-1DBB-C775-1B55CED234C6}"/>
            </a:ext>
          </a:extLst>
        </p:cNvPr>
        <p:cNvGrpSpPr/>
        <p:nvPr/>
      </p:nvGrpSpPr>
      <p:grpSpPr>
        <a:xfrm>
          <a:off x="0" y="0"/>
          <a:ext cx="0" cy="0"/>
          <a:chOff x="0" y="0"/>
          <a:chExt cx="0" cy="0"/>
        </a:xfrm>
      </p:grpSpPr>
      <p:sp>
        <p:nvSpPr>
          <p:cNvPr id="2" name="Platshållare för bildobjekt 1">
            <a:extLst>
              <a:ext uri="{FF2B5EF4-FFF2-40B4-BE49-F238E27FC236}">
                <a16:creationId xmlns:a16="http://schemas.microsoft.com/office/drawing/2014/main" id="{EABE51E5-AE2B-264E-1CA7-10688B173A9B}"/>
              </a:ext>
            </a:extLst>
          </p:cNvPr>
          <p:cNvSpPr>
            <a:spLocks noGrp="1" noRot="1" noChangeAspect="1"/>
          </p:cNvSpPr>
          <p:nvPr>
            <p:ph type="sldImg"/>
          </p:nvPr>
        </p:nvSpPr>
        <p:spPr/>
      </p:sp>
      <p:sp>
        <p:nvSpPr>
          <p:cNvPr id="3" name="Platshållare för anteckningar 2">
            <a:extLst>
              <a:ext uri="{FF2B5EF4-FFF2-40B4-BE49-F238E27FC236}">
                <a16:creationId xmlns:a16="http://schemas.microsoft.com/office/drawing/2014/main" id="{FCF5D203-861F-686F-9D0C-13DCBBC96CCE}"/>
              </a:ext>
            </a:extLst>
          </p:cNvPr>
          <p:cNvSpPr>
            <a:spLocks noGrp="1"/>
          </p:cNvSpPr>
          <p:nvPr>
            <p:ph type="body" idx="1"/>
          </p:nvPr>
        </p:nvSpPr>
        <p:spPr/>
        <p:txBody>
          <a:bodyPr rtlCol="0"/>
          <a:lstStyle/>
          <a:p>
            <a:pPr rtl="0"/>
            <a:r>
              <a:rPr lang="en-GB" dirty="0" err="1"/>
              <a:t>Först</a:t>
            </a:r>
            <a:r>
              <a:rPr lang="en-GB" dirty="0"/>
              <a:t> </a:t>
            </a:r>
            <a:r>
              <a:rPr lang="en-GB" dirty="0" err="1"/>
              <a:t>vill</a:t>
            </a:r>
            <a:r>
              <a:rPr lang="en-GB" dirty="0"/>
              <a:t> jag </a:t>
            </a:r>
            <a:r>
              <a:rPr lang="en-GB" dirty="0" err="1"/>
              <a:t>att</a:t>
            </a:r>
            <a:r>
              <a:rPr lang="en-GB" dirty="0"/>
              <a:t> vi </a:t>
            </a:r>
            <a:r>
              <a:rPr lang="en-GB" dirty="0" err="1"/>
              <a:t>går</a:t>
            </a:r>
            <a:r>
              <a:rPr lang="en-GB" dirty="0"/>
              <a:t> </a:t>
            </a:r>
            <a:r>
              <a:rPr lang="en-GB" dirty="0" err="1"/>
              <a:t>över</a:t>
            </a:r>
            <a:r>
              <a:rPr lang="en-GB" dirty="0"/>
              <a:t> </a:t>
            </a:r>
            <a:r>
              <a:rPr lang="en-GB" dirty="0" err="1"/>
              <a:t>någon</a:t>
            </a:r>
            <a:r>
              <a:rPr lang="en-GB" dirty="0"/>
              <a:t> </a:t>
            </a:r>
            <a:r>
              <a:rPr lang="en-GB" dirty="0" err="1"/>
              <a:t>av</a:t>
            </a:r>
            <a:r>
              <a:rPr lang="en-GB" dirty="0"/>
              <a:t> </a:t>
            </a:r>
            <a:r>
              <a:rPr lang="en-GB" dirty="0" err="1"/>
              <a:t>dem</a:t>
            </a:r>
            <a:r>
              <a:rPr lang="en-GB" dirty="0"/>
              <a:t> </a:t>
            </a:r>
            <a:r>
              <a:rPr lang="en-GB" dirty="0" err="1"/>
              <a:t>viktigaste</a:t>
            </a:r>
            <a:r>
              <a:rPr lang="en-GB" dirty="0"/>
              <a:t> </a:t>
            </a:r>
            <a:r>
              <a:rPr lang="en-GB" dirty="0" err="1"/>
              <a:t>termerna</a:t>
            </a:r>
            <a:r>
              <a:rPr lang="en-GB" dirty="0"/>
              <a:t> för </a:t>
            </a:r>
            <a:r>
              <a:rPr lang="en-GB" dirty="0" err="1"/>
              <a:t>projektet</a:t>
            </a:r>
            <a:r>
              <a:rPr lang="en-GB" dirty="0"/>
              <a:t>: </a:t>
            </a:r>
          </a:p>
          <a:p>
            <a:pPr rtl="0"/>
            <a:endParaRPr lang="en-GB" dirty="0"/>
          </a:p>
          <a:p>
            <a:r>
              <a:rPr lang="sv-SE" b="1" dirty="0"/>
              <a:t>Chunks – chunks eller chunking är när text från exempelvis dokument delas upp </a:t>
            </a:r>
            <a:r>
              <a:rPr lang="sv-SE" dirty="0"/>
              <a:t>i mindre delar så att systemet lättare ska kunna hantera datan. </a:t>
            </a:r>
          </a:p>
          <a:p>
            <a:r>
              <a:rPr lang="sv-SE" b="1" dirty="0"/>
              <a:t>Embeddings - </a:t>
            </a:r>
            <a:r>
              <a:rPr lang="sv-SE" dirty="0"/>
              <a:t>Ett sätt att omvandla textdelar eller chunks till siffror som representerar textens betydelse.</a:t>
            </a:r>
          </a:p>
          <a:p>
            <a:r>
              <a:rPr lang="sv-SE" b="1" dirty="0"/>
              <a:t>Vektorer – Är sjäva produkten efter embedding -  e</a:t>
            </a:r>
            <a:r>
              <a:rPr lang="sv-SE" dirty="0"/>
              <a:t>n lista med siffror som används för att representera dem mindre textdelarna.</a:t>
            </a:r>
          </a:p>
          <a:p>
            <a:endParaRPr lang="sv-SE" dirty="0"/>
          </a:p>
          <a:p>
            <a:r>
              <a:rPr lang="sv-SE" dirty="0"/>
              <a:t>Så hänger ni med? Då hoppar vi in i själva projektet. </a:t>
            </a:r>
          </a:p>
        </p:txBody>
      </p:sp>
      <p:sp>
        <p:nvSpPr>
          <p:cNvPr id="4" name="Platshållare för bildnummer 3">
            <a:extLst>
              <a:ext uri="{FF2B5EF4-FFF2-40B4-BE49-F238E27FC236}">
                <a16:creationId xmlns:a16="http://schemas.microsoft.com/office/drawing/2014/main" id="{7EF15220-89A7-90EF-74E3-2BBD88002736}"/>
              </a:ext>
            </a:extLst>
          </p:cNvPr>
          <p:cNvSpPr>
            <a:spLocks noGrp="1"/>
          </p:cNvSpPr>
          <p:nvPr>
            <p:ph type="sldNum" sz="quarter" idx="5"/>
          </p:nvPr>
        </p:nvSpPr>
        <p:spPr/>
        <p:txBody>
          <a:bodyPr rtlCol="0"/>
          <a:lstStyle/>
          <a:p>
            <a:pPr rtl="0"/>
            <a:fld id="{C6B3AB32-59DF-41F1-9618-EDFBF5049629}" type="slidenum">
              <a:rPr lang="sv-SE" smtClean="0"/>
              <a:t>2</a:t>
            </a:fld>
            <a:endParaRPr lang="sv-SE"/>
          </a:p>
        </p:txBody>
      </p:sp>
    </p:spTree>
    <p:extLst>
      <p:ext uri="{BB962C8B-B14F-4D97-AF65-F5344CB8AC3E}">
        <p14:creationId xmlns:p14="http://schemas.microsoft.com/office/powerpoint/2010/main" val="1418098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Genom</a:t>
            </a:r>
            <a:r>
              <a:rPr lang="en-GB" dirty="0"/>
              <a:t> mitt </a:t>
            </a:r>
            <a:r>
              <a:rPr lang="en-GB" dirty="0" err="1"/>
              <a:t>projekt</a:t>
            </a:r>
            <a:r>
              <a:rPr lang="en-GB" dirty="0"/>
              <a:t> </a:t>
            </a:r>
            <a:r>
              <a:rPr lang="en-GB" dirty="0" err="1"/>
              <a:t>ville</a:t>
            </a:r>
            <a:r>
              <a:rPr lang="en-GB" dirty="0"/>
              <a:t> jag </a:t>
            </a:r>
            <a:r>
              <a:rPr lang="en-GB" dirty="0" err="1"/>
              <a:t>förstå</a:t>
            </a:r>
            <a:r>
              <a:rPr lang="en-GB" dirty="0"/>
              <a:t>  </a:t>
            </a:r>
            <a:r>
              <a:rPr lang="sv-SE" sz="1200" kern="1200" dirty="0">
                <a:solidFill>
                  <a:schemeClr val="tx1"/>
                </a:solidFill>
                <a:effectLst/>
                <a:latin typeface="+mn-lt"/>
                <a:ea typeface="+mn-ea"/>
                <a:cs typeface="+mn-cs"/>
              </a:rPr>
              <a:t>hur man kan mäta hur språkmodeller genererar svar och dess svarskvalité. </a:t>
            </a:r>
          </a:p>
          <a:p>
            <a:pPr lvl="0"/>
            <a:r>
              <a:rPr lang="sv-SE" sz="1200" kern="1200" dirty="0">
                <a:solidFill>
                  <a:schemeClr val="tx1"/>
                </a:solidFill>
                <a:effectLst/>
                <a:latin typeface="+mn-lt"/>
                <a:ea typeface="+mn-ea"/>
                <a:cs typeface="+mn-cs"/>
              </a:rPr>
              <a:t>Jag valde </a:t>
            </a:r>
            <a:r>
              <a:rPr lang="sv-SE" dirty="0"/>
              <a:t>2 mätsningsparametrar: </a:t>
            </a:r>
          </a:p>
          <a:p>
            <a:pPr lvl="0"/>
            <a:r>
              <a:rPr lang="sv-SE" dirty="0"/>
              <a:t>- Retrieval quality - Retrieval quality mäter om RAG-systemet hittar och rangordnar rätt information för att kunna besvara användarens fråga innan informationen skickas till språkmodellen.</a:t>
            </a:r>
          </a:p>
          <a:p>
            <a:pPr lvl="0"/>
            <a:r>
              <a:rPr lang="sv-SE" b="0" dirty="0"/>
              <a:t>- Answer correctness/ </a:t>
            </a:r>
            <a:r>
              <a:rPr lang="sv-SE" sz="1200" b="0" dirty="0">
                <a:solidFill>
                  <a:srgbClr val="FFFFFF"/>
                </a:solidFill>
              </a:rPr>
              <a:t>svarskvalitet - </a:t>
            </a:r>
            <a:r>
              <a:rPr lang="sv-SE" b="0" dirty="0"/>
              <a:t>Answer correctness mäter hur väl AI:ns svar stämmer överens med ett fördefinierat korrekt svar, både faktamässigt och innehållsmässigt.</a:t>
            </a:r>
          </a:p>
          <a:p>
            <a:pPr lvl="0"/>
            <a:endParaRPr lang="sv-SE" dirty="0"/>
          </a:p>
          <a:p>
            <a:pPr lvl="0"/>
            <a:r>
              <a:rPr lang="sv-SE" dirty="0"/>
              <a:t>Så jag tog dem 2 parametrarna och testade hur dem ändrades beroende på chunk-storlek – minns ni att chunk storlek handlar om att dela upp text i mindre text delar? Så jag körde programmet tre gånger med 3 olika storlekar.</a:t>
            </a:r>
          </a:p>
          <a:p>
            <a:pPr lvl="0"/>
            <a:endParaRPr lang="sv-SE" dirty="0"/>
          </a:p>
          <a:p>
            <a:pPr lvl="0"/>
            <a:r>
              <a:rPr lang="sv-SE" dirty="0"/>
              <a:t>Jag försökte då svara på frågorna:</a:t>
            </a:r>
          </a:p>
          <a:p>
            <a:pPr lvl="0"/>
            <a:r>
              <a:rPr lang="sv-SE" dirty="0"/>
              <a:t>- Hur påverkas svarskvaliten av olika chunk storlek?</a:t>
            </a:r>
          </a:p>
          <a:p>
            <a:pPr lvl="0"/>
            <a:r>
              <a:rPr lang="sv-SE" dirty="0"/>
              <a:t>- Vilka mätningsparametrar visade mest variation?</a:t>
            </a:r>
          </a:p>
          <a:p>
            <a:endParaRPr lang="sv-SE" dirty="0"/>
          </a:p>
          <a:p>
            <a:r>
              <a:rPr lang="sv-SE" dirty="0"/>
              <a:t>Så näste steg är – hur jag gjorde detta. </a:t>
            </a:r>
          </a:p>
        </p:txBody>
      </p:sp>
      <p:sp>
        <p:nvSpPr>
          <p:cNvPr id="4" name="Slide Number Placeholder 3"/>
          <p:cNvSpPr>
            <a:spLocks noGrp="1"/>
          </p:cNvSpPr>
          <p:nvPr>
            <p:ph type="sldNum" sz="quarter" idx="5"/>
          </p:nvPr>
        </p:nvSpPr>
        <p:spPr/>
        <p:txBody>
          <a:bodyPr/>
          <a:lstStyle/>
          <a:p>
            <a:pPr rtl="0"/>
            <a:fld id="{C6B3AB32-59DF-41F1-9618-EDFBF5049629}" type="slidenum">
              <a:rPr lang="sv-SE" noProof="0" smtClean="0"/>
              <a:t>3</a:t>
            </a:fld>
            <a:endParaRPr lang="sv-SE" noProof="0"/>
          </a:p>
        </p:txBody>
      </p:sp>
    </p:spTree>
    <p:extLst>
      <p:ext uri="{BB962C8B-B14F-4D97-AF65-F5344CB8AC3E}">
        <p14:creationId xmlns:p14="http://schemas.microsoft.com/office/powerpoint/2010/main" val="758289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b="1" dirty="0"/>
              <a:t>Först laddade jag ner 10 dokument från Wikipedia. Detta blev mitt dokumentunderlag för RAG systemet och utvärderingen.</a:t>
            </a:r>
          </a:p>
          <a:p>
            <a:endParaRPr lang="sv-SE" dirty="0"/>
          </a:p>
          <a:p>
            <a:r>
              <a:rPr lang="sv-SE" b="1" dirty="0"/>
              <a:t>Sedan byggde jag en enklare RAG-pipeline i Python som ni kan se här: </a:t>
            </a:r>
          </a:p>
          <a:p>
            <a:r>
              <a:rPr lang="sv-SE" b="1" dirty="0"/>
              <a:t>Pipelinen laddar in dokumenten och delar upp texten i mindre delar, så kallade chunks. Dessa chunks omvandlas sedan till embeddings, alltså numeriska vektorer. Vanligtvis sparas dessa i en vektordatabas som i bilden men i mitt fall hade jag ett ganska litet underlag så vektorerna sparades i en funktion. </a:t>
            </a:r>
          </a:p>
          <a:p>
            <a:endParaRPr lang="sv-SE" dirty="0"/>
          </a:p>
          <a:p>
            <a:r>
              <a:rPr lang="sv-SE" b="1" dirty="0"/>
              <a:t>Nästa steg var att testa det RAG systemet jag byggt – jag hade skapat en lista av frågor och svar från mitt dokumentunderlag som jag nu använde. </a:t>
            </a:r>
          </a:p>
          <a:p>
            <a:r>
              <a:rPr lang="sv-SE" b="1" dirty="0"/>
              <a:t>Jag ställde en fråga till systemet som omvandlade frågan till embeddings. Systemet jämför sedan frågans embedding med embeddings för alla chunks och använder cosine similarity för att hitta de tre mest liknande chunkarna.</a:t>
            </a:r>
            <a:endParaRPr lang="sv-SE" dirty="0"/>
          </a:p>
          <a:p>
            <a:r>
              <a:rPr lang="sv-SE" b="1" dirty="0"/>
              <a:t>De ursprungliga text-chunkarna hämtas sedan och skickas tillsammans med frågan till OpenAI. Språkmodellen använder det hämtade sammanhanget för att generera det slutliga svaret.</a:t>
            </a:r>
          </a:p>
        </p:txBody>
      </p:sp>
      <p:sp>
        <p:nvSpPr>
          <p:cNvPr id="4" name="Slide Number Placeholder 3"/>
          <p:cNvSpPr>
            <a:spLocks noGrp="1"/>
          </p:cNvSpPr>
          <p:nvPr>
            <p:ph type="sldNum" sz="quarter" idx="5"/>
          </p:nvPr>
        </p:nvSpPr>
        <p:spPr/>
        <p:txBody>
          <a:bodyPr/>
          <a:lstStyle/>
          <a:p>
            <a:pPr rtl="0"/>
            <a:fld id="{C6B3AB32-59DF-41F1-9618-EDFBF5049629}" type="slidenum">
              <a:rPr lang="sv-SE" noProof="0" smtClean="0"/>
              <a:t>4</a:t>
            </a:fld>
            <a:endParaRPr lang="sv-SE" noProof="0"/>
          </a:p>
        </p:txBody>
      </p:sp>
    </p:spTree>
    <p:extLst>
      <p:ext uri="{BB962C8B-B14F-4D97-AF65-F5344CB8AC3E}">
        <p14:creationId xmlns:p14="http://schemas.microsoft.com/office/powerpoint/2010/main" val="2083167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sz="1200" b="0" kern="1200" dirty="0">
                <a:solidFill>
                  <a:schemeClr val="tx1"/>
                </a:solidFill>
                <a:effectLst/>
                <a:latin typeface="+mn-lt"/>
                <a:ea typeface="+mn-ea"/>
                <a:cs typeface="+mn-cs"/>
              </a:rPr>
              <a:t>Och det här var mitt resultat: </a:t>
            </a:r>
          </a:p>
          <a:p>
            <a:endParaRPr lang="sv-SE" sz="1200" b="0" kern="1200" dirty="0">
              <a:solidFill>
                <a:schemeClr val="tx1"/>
              </a:solidFill>
              <a:effectLst/>
              <a:latin typeface="+mn-lt"/>
              <a:ea typeface="+mn-ea"/>
              <a:cs typeface="+mn-cs"/>
            </a:endParaRPr>
          </a:p>
          <a:p>
            <a:r>
              <a:rPr lang="sv-SE" sz="1200" b="0" kern="1200" dirty="0">
                <a:solidFill>
                  <a:schemeClr val="tx1"/>
                </a:solidFill>
                <a:effectLst/>
                <a:latin typeface="+mn-lt"/>
                <a:ea typeface="+mn-ea"/>
                <a:cs typeface="+mn-cs"/>
              </a:rPr>
              <a:t>1. Retrieval quality förbättrades med större chunks, vilket innebär att systemet hittade mer av den stödjande informationen när chunk-storleken ökade. Skillnaden mellan 500 och 1500 tecken var ungefär 0,049, alltså 4,9 procentenheter.</a:t>
            </a:r>
          </a:p>
          <a:p>
            <a:endParaRPr lang="sv-SE" sz="1200" b="0" kern="1200" dirty="0">
              <a:solidFill>
                <a:schemeClr val="tx1"/>
              </a:solidFill>
              <a:effectLst/>
              <a:latin typeface="+mn-lt"/>
              <a:ea typeface="+mn-ea"/>
              <a:cs typeface="+mn-cs"/>
            </a:endParaRPr>
          </a:p>
          <a:p>
            <a:r>
              <a:rPr lang="sv-SE" sz="1200" b="0" kern="1200" dirty="0">
                <a:solidFill>
                  <a:schemeClr val="tx1"/>
                </a:solidFill>
                <a:effectLst/>
                <a:latin typeface="+mn-lt"/>
                <a:ea typeface="+mn-ea"/>
                <a:cs typeface="+mn-cs"/>
              </a:rPr>
              <a:t>2. Answer correctness eller svarskorrekthet förändrades väldigt lite från 500 till 1000 tecken, men ingen ytterligare förbättring syntes mellan 1000 och 1500. </a:t>
            </a:r>
          </a:p>
          <a:p>
            <a:endParaRPr lang="sv-SE" sz="1200" b="0" kern="1200" dirty="0">
              <a:solidFill>
                <a:schemeClr val="tx1"/>
              </a:solidFill>
              <a:effectLst/>
              <a:latin typeface="+mn-lt"/>
              <a:ea typeface="+mn-ea"/>
              <a:cs typeface="+mn-cs"/>
            </a:endParaRPr>
          </a:p>
          <a:p>
            <a:r>
              <a:rPr lang="sv-SE" sz="1200" b="0" kern="1200" dirty="0">
                <a:solidFill>
                  <a:schemeClr val="tx1"/>
                </a:solidFill>
                <a:effectLst/>
                <a:latin typeface="+mn-lt"/>
                <a:ea typeface="+mn-ea"/>
                <a:cs typeface="+mn-cs"/>
              </a:rPr>
              <a:t>Så I detta experiment hade chunk-storleken en tydligare effekt på retrieval quality än på answer correctness. </a:t>
            </a:r>
          </a:p>
          <a:p>
            <a:r>
              <a:rPr lang="sv-SE" sz="1200" b="0" kern="1200" dirty="0">
                <a:solidFill>
                  <a:schemeClr val="tx1"/>
                </a:solidFill>
                <a:effectLst/>
                <a:latin typeface="+mn-lt"/>
                <a:ea typeface="+mn-ea"/>
                <a:cs typeface="+mn-cs"/>
              </a:rPr>
              <a:t>Större chunks gav generellt högre retrieval quality, men förbättringen i faktisk svarskorrekthet var liten. Resultaten tyder därför på att bättre retrieval inte nödvändigtvis översätts till proportionellt bättre genererade svar.</a:t>
            </a:r>
          </a:p>
          <a:p>
            <a:endParaRPr lang="sv-SE" dirty="0"/>
          </a:p>
          <a:p>
            <a:endParaRPr lang="sv-SE" dirty="0"/>
          </a:p>
        </p:txBody>
      </p:sp>
      <p:sp>
        <p:nvSpPr>
          <p:cNvPr id="4" name="Platshållare för bildnummer 3"/>
          <p:cNvSpPr>
            <a:spLocks noGrp="1"/>
          </p:cNvSpPr>
          <p:nvPr>
            <p:ph type="sldNum" sz="quarter" idx="5"/>
          </p:nvPr>
        </p:nvSpPr>
        <p:spPr/>
        <p:txBody>
          <a:bodyPr/>
          <a:lstStyle/>
          <a:p>
            <a:pPr rtl="0"/>
            <a:fld id="{C6B3AB32-59DF-41F1-9618-EDFBF5049629}" type="slidenum">
              <a:rPr lang="sv-SE" smtClean="0"/>
              <a:t>5</a:t>
            </a:fld>
            <a:endParaRPr lang="sv-SE"/>
          </a:p>
        </p:txBody>
      </p:sp>
    </p:spTree>
    <p:extLst>
      <p:ext uri="{BB962C8B-B14F-4D97-AF65-F5344CB8AC3E}">
        <p14:creationId xmlns:p14="http://schemas.microsoft.com/office/powerpoint/2010/main" val="3409072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rtlCol="0"/>
          <a:lstStyle/>
          <a:p>
            <a:endParaRPr lang="sv-SE" dirty="0"/>
          </a:p>
          <a:p>
            <a:r>
              <a:rPr lang="sv-SE" b="1" dirty="0"/>
              <a:t>Projektet hade några tydliga begränsningar. </a:t>
            </a:r>
          </a:p>
          <a:p>
            <a:r>
              <a:rPr lang="sv-SE" b="1" dirty="0"/>
              <a:t>För det första var datasetet relativt litet, med 10 dokument och 60 frågor. </a:t>
            </a:r>
          </a:p>
          <a:p>
            <a:r>
              <a:rPr lang="sv-SE" b="1" dirty="0"/>
              <a:t>För det andra testade jag bara tre chunk-storlekar och använde ingen overlap. </a:t>
            </a:r>
          </a:p>
          <a:p>
            <a:r>
              <a:rPr lang="sv-SE" b="1" dirty="0"/>
              <a:t>För det tredje var retrieval-systemet relativt enkelt och saknade en mekanism för att avgöra när en fråga inte kunde besvaras, vilket syntes tydligt genom att no-answer handling blev noll.</a:t>
            </a:r>
          </a:p>
          <a:p>
            <a:r>
              <a:rPr lang="sv-SE" b="1" dirty="0"/>
              <a:t>Slutligen använde jag en LLM som judge för answer correctness, vilket inte är lika objektivt som mänsklig eller exakt numerisk utvärdering.</a:t>
            </a:r>
            <a:endParaRPr lang="sv-SE" dirty="0"/>
          </a:p>
          <a:p>
            <a:r>
              <a:rPr lang="sv-SE" b="1" dirty="0"/>
              <a:t>Ett naturligt nästa steg skulle därför vara att använda ett större dataset, testa fler chunking-strategier, införa en answerability-kontroll och komplettera LLM-utvärderingen med mänsklig bedömning eller ytterligare metrics.</a:t>
            </a:r>
            <a:endParaRPr lang="sv-SE" dirty="0"/>
          </a:p>
          <a:p>
            <a:pPr rtl="0"/>
            <a:endParaRPr lang="sv-SE" dirty="0"/>
          </a:p>
        </p:txBody>
      </p:sp>
      <p:sp>
        <p:nvSpPr>
          <p:cNvPr id="4" name="Platshållare för bildnummer 3"/>
          <p:cNvSpPr>
            <a:spLocks noGrp="1"/>
          </p:cNvSpPr>
          <p:nvPr>
            <p:ph type="sldNum" sz="quarter" idx="5"/>
          </p:nvPr>
        </p:nvSpPr>
        <p:spPr/>
        <p:txBody>
          <a:bodyPr rtlCol="0"/>
          <a:lstStyle/>
          <a:p>
            <a:pPr rtl="0"/>
            <a:fld id="{C6B3AB32-59DF-41F1-9618-EDFBF5049629}" type="slidenum">
              <a:rPr lang="sv-SE" smtClean="0"/>
              <a:t>6</a:t>
            </a:fld>
            <a:endParaRPr lang="sv-SE"/>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7" name="Rektangulär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2" name="Rubrik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sv-SE" noProof="0"/>
              <a:t>Klicka här för att ändra format</a:t>
            </a:r>
          </a:p>
        </p:txBody>
      </p:sp>
      <p:sp>
        <p:nvSpPr>
          <p:cNvPr id="3" name="Underrubrik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sv-SE" noProof="0"/>
              <a:t>Klicka om du vill redigera mall för underrubrikformat</a:t>
            </a:r>
          </a:p>
        </p:txBody>
      </p:sp>
      <p:sp>
        <p:nvSpPr>
          <p:cNvPr id="4" name="Platshållare för datum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9E1C7E15-A5D9-44CB-AA09-BDE68780EFAC}" type="datetime1">
              <a:rPr lang="sv-SE" noProof="0" smtClean="0"/>
              <a:t>2026-09-24</a:t>
            </a:fld>
            <a:endParaRPr lang="sv-SE" noProof="0"/>
          </a:p>
        </p:txBody>
      </p:sp>
      <p:sp>
        <p:nvSpPr>
          <p:cNvPr id="5" name="Platshållare för sidfot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sv-SE" noProof="0"/>
          </a:p>
        </p:txBody>
      </p:sp>
      <p:sp>
        <p:nvSpPr>
          <p:cNvPr id="6" name="Platshållare för bildnummer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7" name="Rektangulär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2" name="Rubrik 1"/>
          <p:cNvSpPr>
            <a:spLocks noGrp="1"/>
          </p:cNvSpPr>
          <p:nvPr>
            <p:ph type="title" hasCustomPrompt="1"/>
          </p:nvPr>
        </p:nvSpPr>
        <p:spPr>
          <a:xfrm>
            <a:off x="581192" y="702156"/>
            <a:ext cx="11029616" cy="1013800"/>
          </a:xfrm>
        </p:spPr>
        <p:txBody>
          <a:bodyPr rtlCol="0"/>
          <a:lstStyle/>
          <a:p>
            <a:pPr rtl="0"/>
            <a:r>
              <a:rPr lang="sv-SE" noProof="0"/>
              <a:t>Klicka här för att ändra format</a:t>
            </a:r>
          </a:p>
        </p:txBody>
      </p:sp>
      <p:sp>
        <p:nvSpPr>
          <p:cNvPr id="3" name="Platshållare för innehåll 2"/>
          <p:cNvSpPr>
            <a:spLocks noGrp="1"/>
          </p:cNvSpPr>
          <p:nvPr>
            <p:ph idx="1" hasCustomPrompt="1"/>
          </p:nvPr>
        </p:nvSpPr>
        <p:spPr>
          <a:xfrm>
            <a:off x="581192" y="2180496"/>
            <a:ext cx="11029615" cy="3678303"/>
          </a:xfrm>
        </p:spPr>
        <p:txBody>
          <a:bodyPr rtlCol="0"/>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18BA5819-876C-40D7-B05D-82DAC82D5655}" type="datetime1">
              <a:rPr lang="sv-SE" noProof="0" smtClean="0"/>
              <a:t>2026-09-24</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a:xfrm>
            <a:off x="10558300" y="5956137"/>
            <a:ext cx="1052508" cy="365125"/>
          </a:xfrm>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8" name="Rektangulär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sv-SE" noProof="0"/>
              <a:t>Klicka här för att ändra format</a:t>
            </a:r>
          </a:p>
        </p:txBody>
      </p:sp>
      <p:sp>
        <p:nvSpPr>
          <p:cNvPr id="3" name="Platshållare för text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sv-SE" noProof="0"/>
              <a:t>Redigera format för bakgrundstext</a:t>
            </a:r>
          </a:p>
        </p:txBody>
      </p:sp>
      <p:sp>
        <p:nvSpPr>
          <p:cNvPr id="4" name="Platshållare för datum 3"/>
          <p:cNvSpPr>
            <a:spLocks noGrp="1"/>
          </p:cNvSpPr>
          <p:nvPr>
            <p:ph type="dt" sz="half" idx="10"/>
          </p:nvPr>
        </p:nvSpPr>
        <p:spPr/>
        <p:txBody>
          <a:bodyPr rtlCol="0"/>
          <a:lstStyle>
            <a:lvl1pPr>
              <a:defRPr>
                <a:solidFill>
                  <a:schemeClr val="accent1">
                    <a:lumMod val="75000"/>
                    <a:lumOff val="25000"/>
                  </a:schemeClr>
                </a:solidFill>
              </a:defRPr>
            </a:lvl1pPr>
          </a:lstStyle>
          <a:p>
            <a:pPr rtl="0"/>
            <a:fld id="{7949AA0E-6A47-4365-A56F-C26D07467938}" type="datetime1">
              <a:rPr lang="sv-SE" noProof="0" smtClean="0"/>
              <a:t>2026-09-24</a:t>
            </a:fld>
            <a:endParaRPr lang="sv-SE" noProof="0"/>
          </a:p>
        </p:txBody>
      </p:sp>
      <p:sp>
        <p:nvSpPr>
          <p:cNvPr id="5" name="Platshållare för sidfot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sv-SE" noProof="0"/>
          </a:p>
        </p:txBody>
      </p:sp>
      <p:sp>
        <p:nvSpPr>
          <p:cNvPr id="6" name="Platshållare för bildnummer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
    <p:spTree>
      <p:nvGrpSpPr>
        <p:cNvPr id="1" name=""/>
        <p:cNvGrpSpPr/>
        <p:nvPr/>
      </p:nvGrpSpPr>
      <p:grpSpPr>
        <a:xfrm>
          <a:off x="0" y="0"/>
          <a:ext cx="0" cy="0"/>
          <a:chOff x="0" y="0"/>
          <a:chExt cx="0" cy="0"/>
        </a:xfrm>
      </p:grpSpPr>
      <p:sp>
        <p:nvSpPr>
          <p:cNvPr id="8" name="Rektangulär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2" name="Rubrik 1"/>
          <p:cNvSpPr>
            <a:spLocks noGrp="1"/>
          </p:cNvSpPr>
          <p:nvPr>
            <p:ph type="title" hasCustomPrompt="1"/>
          </p:nvPr>
        </p:nvSpPr>
        <p:spPr>
          <a:xfrm>
            <a:off x="581193" y="729658"/>
            <a:ext cx="11029616" cy="988332"/>
          </a:xfrm>
        </p:spPr>
        <p:txBody>
          <a:bodyPr rtlCol="0"/>
          <a:lstStyle/>
          <a:p>
            <a:pPr rtl="0"/>
            <a:r>
              <a:rPr lang="sv-SE" noProof="0"/>
              <a:t>Klicka här för att ändra format</a:t>
            </a:r>
          </a:p>
        </p:txBody>
      </p:sp>
      <p:sp>
        <p:nvSpPr>
          <p:cNvPr id="3" name="Platshållare för innehåll 2"/>
          <p:cNvSpPr>
            <a:spLocks noGrp="1"/>
          </p:cNvSpPr>
          <p:nvPr>
            <p:ph sz="half" idx="1" hasCustomPrompt="1"/>
          </p:nvPr>
        </p:nvSpPr>
        <p:spPr>
          <a:xfrm>
            <a:off x="581193" y="2228003"/>
            <a:ext cx="5422390" cy="3633047"/>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innehåll 3"/>
          <p:cNvSpPr>
            <a:spLocks noGrp="1"/>
          </p:cNvSpPr>
          <p:nvPr>
            <p:ph sz="half" idx="2" hasCustomPrompt="1"/>
          </p:nvPr>
        </p:nvSpPr>
        <p:spPr>
          <a:xfrm>
            <a:off x="6188417" y="2228003"/>
            <a:ext cx="5422392" cy="3633047"/>
          </a:xfrm>
        </p:spPr>
        <p:txBody>
          <a:bodyPr rtlCol="0">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datum 4"/>
          <p:cNvSpPr>
            <a:spLocks noGrp="1"/>
          </p:cNvSpPr>
          <p:nvPr>
            <p:ph type="dt" sz="half" idx="10"/>
          </p:nvPr>
        </p:nvSpPr>
        <p:spPr/>
        <p:txBody>
          <a:bodyPr rtlCol="0"/>
          <a:lstStyle/>
          <a:p>
            <a:pPr rtl="0"/>
            <a:fld id="{B352CDAE-0DBF-4CCE-8D8D-BCC1A1B963F7}" type="datetime1">
              <a:rPr lang="sv-SE" noProof="0" smtClean="0"/>
              <a:t>2026-09-24</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11" name="Rektangulär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Rubrik 1"/>
          <p:cNvSpPr>
            <a:spLocks noGrp="1"/>
          </p:cNvSpPr>
          <p:nvPr>
            <p:ph type="title" hasCustomPrompt="1"/>
          </p:nvPr>
        </p:nvSpPr>
        <p:spPr>
          <a:xfrm>
            <a:off x="581193" y="729658"/>
            <a:ext cx="11029616" cy="988332"/>
          </a:xfrm>
        </p:spPr>
        <p:txBody>
          <a:bodyPr rtlCol="0"/>
          <a:lstStyle/>
          <a:p>
            <a:pPr rtl="0"/>
            <a:r>
              <a:rPr lang="sv-SE" noProof="0"/>
              <a:t>Klicka här för att ändra format</a:t>
            </a:r>
          </a:p>
        </p:txBody>
      </p:sp>
      <p:sp>
        <p:nvSpPr>
          <p:cNvPr id="3" name="Platshållare för text 2"/>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4" name="Platshållare för innehåll 3"/>
          <p:cNvSpPr>
            <a:spLocks noGrp="1"/>
          </p:cNvSpPr>
          <p:nvPr>
            <p:ph sz="half" idx="2" hasCustomPrompt="1"/>
          </p:nvPr>
        </p:nvSpPr>
        <p:spPr>
          <a:xfrm>
            <a:off x="581194" y="2926052"/>
            <a:ext cx="5393100" cy="2934999"/>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5" name="Platshållare för text 4"/>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sv-SE" noProof="0"/>
              <a:t>Redigera format för bakgrundstext</a:t>
            </a:r>
          </a:p>
        </p:txBody>
      </p:sp>
      <p:sp>
        <p:nvSpPr>
          <p:cNvPr id="6" name="Platshållare för innehåll 5"/>
          <p:cNvSpPr>
            <a:spLocks noGrp="1"/>
          </p:cNvSpPr>
          <p:nvPr>
            <p:ph sz="quarter" idx="4" hasCustomPrompt="1"/>
          </p:nvPr>
        </p:nvSpPr>
        <p:spPr>
          <a:xfrm>
            <a:off x="6217709" y="2926052"/>
            <a:ext cx="5393100" cy="2934999"/>
          </a:xfrm>
        </p:spPr>
        <p:txBody>
          <a:bodyPr rtlCol="0" anchor="t">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7" name="Platshållare för datum 6"/>
          <p:cNvSpPr>
            <a:spLocks noGrp="1"/>
          </p:cNvSpPr>
          <p:nvPr>
            <p:ph type="dt" sz="half" idx="10"/>
          </p:nvPr>
        </p:nvSpPr>
        <p:spPr/>
        <p:txBody>
          <a:bodyPr rtlCol="0"/>
          <a:lstStyle/>
          <a:p>
            <a:pPr rtl="0"/>
            <a:fld id="{EE769021-A962-41DC-B2BE-B2D5BE48197E}" type="datetime1">
              <a:rPr lang="sv-SE" noProof="0" smtClean="0"/>
              <a:t>2026-09-24</a:t>
            </a:fld>
            <a:endParaRPr lang="sv-SE" noProof="0"/>
          </a:p>
        </p:txBody>
      </p:sp>
      <p:sp>
        <p:nvSpPr>
          <p:cNvPr id="8" name="Platshållare för sidfot 7"/>
          <p:cNvSpPr>
            <a:spLocks noGrp="1"/>
          </p:cNvSpPr>
          <p:nvPr>
            <p:ph type="ftr" sz="quarter" idx="11"/>
          </p:nvPr>
        </p:nvSpPr>
        <p:spPr/>
        <p:txBody>
          <a:bodyPr rtlCol="0"/>
          <a:lstStyle/>
          <a:p>
            <a:pPr rtl="0"/>
            <a:endParaRPr lang="sv-SE" noProof="0"/>
          </a:p>
        </p:txBody>
      </p:sp>
      <p:sp>
        <p:nvSpPr>
          <p:cNvPr id="9" name="Platshållare för bildnummer 8"/>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3" name="Platshållare för datum 2"/>
          <p:cNvSpPr>
            <a:spLocks noGrp="1"/>
          </p:cNvSpPr>
          <p:nvPr>
            <p:ph type="dt" sz="half" idx="10"/>
          </p:nvPr>
        </p:nvSpPr>
        <p:spPr/>
        <p:txBody>
          <a:bodyPr rtlCol="0"/>
          <a:lstStyle/>
          <a:p>
            <a:pPr rtl="0"/>
            <a:fld id="{1D21C337-78CE-4B42-B3F9-57AA2C8CE673}" type="datetime1">
              <a:rPr lang="sv-SE" noProof="0" smtClean="0"/>
              <a:t>2026-09-24</a:t>
            </a:fld>
            <a:endParaRPr lang="sv-SE" noProof="0"/>
          </a:p>
        </p:txBody>
      </p:sp>
      <p:sp>
        <p:nvSpPr>
          <p:cNvPr id="4" name="Platshållare för sidfot 3"/>
          <p:cNvSpPr>
            <a:spLocks noGrp="1"/>
          </p:cNvSpPr>
          <p:nvPr>
            <p:ph type="ftr" sz="quarter" idx="11"/>
          </p:nvPr>
        </p:nvSpPr>
        <p:spPr/>
        <p:txBody>
          <a:bodyPr rtlCol="0"/>
          <a:lstStyle/>
          <a:p>
            <a:pPr rtl="0"/>
            <a:endParaRPr lang="sv-SE" noProof="0"/>
          </a:p>
        </p:txBody>
      </p:sp>
      <p:sp>
        <p:nvSpPr>
          <p:cNvPr id="5" name="Platshållare för bildnummer 4"/>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
        <p:nvSpPr>
          <p:cNvPr id="7" name="Rektangulär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Rubrik 1"/>
          <p:cNvSpPr>
            <a:spLocks noGrp="1"/>
          </p:cNvSpPr>
          <p:nvPr>
            <p:ph type="title" hasCustomPrompt="1"/>
          </p:nvPr>
        </p:nvSpPr>
        <p:spPr>
          <a:xfrm>
            <a:off x="575894" y="729658"/>
            <a:ext cx="11029616" cy="988332"/>
          </a:xfrm>
        </p:spPr>
        <p:txBody>
          <a:bodyPr rtlCol="0"/>
          <a:lstStyle/>
          <a:p>
            <a:pPr rtl="0"/>
            <a:r>
              <a:rPr lang="sv-SE" noProof="0"/>
              <a:t>Klicka här för att ändra format</a:t>
            </a:r>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rtlCol="0"/>
          <a:lstStyle/>
          <a:p>
            <a:pPr rtl="0"/>
            <a:fld id="{944A4472-8FEF-4AB6-8DC5-BBF8799EDA3C}" type="datetime1">
              <a:rPr lang="sv-SE" noProof="0" smtClean="0"/>
              <a:t>2026-09-24</a:t>
            </a:fld>
            <a:endParaRPr lang="sv-SE" noProof="0"/>
          </a:p>
        </p:txBody>
      </p:sp>
      <p:sp>
        <p:nvSpPr>
          <p:cNvPr id="3" name="Platshållare för sidfot 2"/>
          <p:cNvSpPr>
            <a:spLocks noGrp="1"/>
          </p:cNvSpPr>
          <p:nvPr>
            <p:ph type="ftr" sz="quarter" idx="11"/>
          </p:nvPr>
        </p:nvSpPr>
        <p:spPr/>
        <p:txBody>
          <a:bodyPr rtlCol="0"/>
          <a:lstStyle/>
          <a:p>
            <a:pPr rtl="0"/>
            <a:endParaRPr lang="sv-SE" noProof="0"/>
          </a:p>
        </p:txBody>
      </p:sp>
      <p:sp>
        <p:nvSpPr>
          <p:cNvPr id="4" name="Platshållare för bildnummer 3"/>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9" name="Rektangulär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Rubrik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sv-SE" noProof="0"/>
              <a:t>Klicka här för att ändra format</a:t>
            </a:r>
          </a:p>
        </p:txBody>
      </p:sp>
      <p:sp>
        <p:nvSpPr>
          <p:cNvPr id="3" name="Platshållare för innehåll 2"/>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text 3"/>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lvl1pPr>
              <a:defRPr>
                <a:solidFill>
                  <a:schemeClr val="accent1">
                    <a:lumMod val="75000"/>
                    <a:lumOff val="25000"/>
                  </a:schemeClr>
                </a:solidFill>
              </a:defRPr>
            </a:lvl1pPr>
          </a:lstStyle>
          <a:p>
            <a:pPr rtl="0"/>
            <a:fld id="{9C951709-E3CE-4C6A-8C9B-0A975C581F46}" type="datetime1">
              <a:rPr lang="sv-SE" noProof="0" smtClean="0"/>
              <a:t>2026-09-24</a:t>
            </a:fld>
            <a:endParaRPr lang="sv-SE" noProof="0"/>
          </a:p>
        </p:txBody>
      </p:sp>
      <p:sp>
        <p:nvSpPr>
          <p:cNvPr id="6" name="Platshållare för sidfot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sv-SE" noProof="0"/>
          </a:p>
        </p:txBody>
      </p:sp>
      <p:sp>
        <p:nvSpPr>
          <p:cNvPr id="7" name="Platshållare för bildnummer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sv-SE" noProof="0"/>
              <a:t>Klicka här för att ändra format</a:t>
            </a:r>
          </a:p>
        </p:txBody>
      </p:sp>
      <p:sp>
        <p:nvSpPr>
          <p:cNvPr id="3" name="Platshållare för bild 2"/>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sv-SE" noProof="0"/>
              <a:t>Klicka på ikonen för att lägga till bild</a:t>
            </a:r>
          </a:p>
        </p:txBody>
      </p:sp>
      <p:sp>
        <p:nvSpPr>
          <p:cNvPr id="4" name="Platshållare för text 3"/>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sv-SE" noProof="0"/>
              <a:t>Redigera format för bakgrundstext</a:t>
            </a:r>
          </a:p>
        </p:txBody>
      </p:sp>
      <p:sp>
        <p:nvSpPr>
          <p:cNvPr id="5" name="Platshållare för datum 4"/>
          <p:cNvSpPr>
            <a:spLocks noGrp="1"/>
          </p:cNvSpPr>
          <p:nvPr>
            <p:ph type="dt" sz="half" idx="10"/>
          </p:nvPr>
        </p:nvSpPr>
        <p:spPr/>
        <p:txBody>
          <a:bodyPr rtlCol="0"/>
          <a:lstStyle/>
          <a:p>
            <a:pPr rtl="0"/>
            <a:fld id="{AE076600-0888-48C6-B089-DF3A6834FC41}" type="datetime1">
              <a:rPr lang="sv-SE" noProof="0" smtClean="0"/>
              <a:t>2026-09-24</a:t>
            </a:fld>
            <a:endParaRPr lang="sv-SE" noProof="0"/>
          </a:p>
        </p:txBody>
      </p:sp>
      <p:sp>
        <p:nvSpPr>
          <p:cNvPr id="6" name="Platshållare för sidfot 5"/>
          <p:cNvSpPr>
            <a:spLocks noGrp="1"/>
          </p:cNvSpPr>
          <p:nvPr>
            <p:ph type="ftr" sz="quarter" idx="11"/>
          </p:nvPr>
        </p:nvSpPr>
        <p:spPr/>
        <p:txBody>
          <a:bodyPr rtlCol="0"/>
          <a:lstStyle/>
          <a:p>
            <a:pPr rtl="0"/>
            <a:endParaRPr lang="sv-SE" noProof="0"/>
          </a:p>
        </p:txBody>
      </p:sp>
      <p:sp>
        <p:nvSpPr>
          <p:cNvPr id="7" name="Platshållare för bildnummer 6"/>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8" name="Rektangulär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Rubrik 1"/>
          <p:cNvSpPr>
            <a:spLocks noGrp="1"/>
          </p:cNvSpPr>
          <p:nvPr>
            <p:ph type="title" hasCustomPrompt="1"/>
          </p:nvPr>
        </p:nvSpPr>
        <p:spPr>
          <a:xfrm>
            <a:off x="581192" y="702156"/>
            <a:ext cx="11029616" cy="1013800"/>
          </a:xfrm>
        </p:spPr>
        <p:txBody>
          <a:bodyPr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p:txBody>
          <a:bodyPr vert="eaVert" rtlCol="0" anchor="t"/>
          <a:lstStyle>
            <a:lvl1pPr algn="l">
              <a:defRPr/>
            </a:lvl1pPr>
            <a:lvl2pPr algn="l">
              <a:defRPr/>
            </a:lvl2pPr>
            <a:lvl3pPr algn="l">
              <a:defRPr/>
            </a:lvl3pPr>
            <a:lvl4pPr algn="l">
              <a:defRPr/>
            </a:lvl4pPr>
            <a:lvl5pPr algn="l">
              <a:defRPr/>
            </a:lvl5p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p:txBody>
          <a:bodyPr rtlCol="0"/>
          <a:lstStyle/>
          <a:p>
            <a:pPr rtl="0"/>
            <a:fld id="{561EE234-DC73-444A-954B-E89CE88AD6A7}" type="datetime1">
              <a:rPr lang="sv-SE" noProof="0" smtClean="0"/>
              <a:t>2026-09-24</a:t>
            </a:fld>
            <a:endParaRPr lang="sv-SE" noProof="0"/>
          </a:p>
        </p:txBody>
      </p:sp>
      <p:sp>
        <p:nvSpPr>
          <p:cNvPr id="5" name="Platshållare för sidfot 4"/>
          <p:cNvSpPr>
            <a:spLocks noGrp="1"/>
          </p:cNvSpPr>
          <p:nvPr>
            <p:ph type="ftr" sz="quarter" idx="11"/>
          </p:nvPr>
        </p:nvSpPr>
        <p:spPr/>
        <p:txBody>
          <a:bodyPr rtlCol="0"/>
          <a:lstStyle/>
          <a:p>
            <a:pPr rtl="0"/>
            <a:endParaRPr lang="sv-SE" noProof="0"/>
          </a:p>
        </p:txBody>
      </p:sp>
      <p:sp>
        <p:nvSpPr>
          <p:cNvPr id="6" name="Platshållare för bildnummer 5"/>
          <p:cNvSpPr>
            <a:spLocks noGrp="1"/>
          </p:cNvSpPr>
          <p:nvPr>
            <p:ph type="sldNum" sz="quarter" idx="12"/>
          </p:nvPr>
        </p:nvSpPr>
        <p:spPr/>
        <p:txBody>
          <a:bodyPr rtlCol="0"/>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7" name="Rektangulär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Lodrät rubrik 1"/>
          <p:cNvSpPr>
            <a:spLocks noGrp="1"/>
          </p:cNvSpPr>
          <p:nvPr>
            <p:ph type="title" orient="vert" hasCustomPrompt="1"/>
          </p:nvPr>
        </p:nvSpPr>
        <p:spPr>
          <a:xfrm>
            <a:off x="8839201" y="675726"/>
            <a:ext cx="2004164" cy="5183073"/>
          </a:xfrm>
        </p:spPr>
        <p:txBody>
          <a:bodyPr vert="eaVert" rtlCol="0"/>
          <a:lstStyle/>
          <a:p>
            <a:pPr rtl="0"/>
            <a:r>
              <a:rPr lang="sv-SE" noProof="0"/>
              <a:t>Klicka här för att ändra format</a:t>
            </a:r>
          </a:p>
        </p:txBody>
      </p:sp>
      <p:sp>
        <p:nvSpPr>
          <p:cNvPr id="3" name="Platshållare 2 för vertikal text"/>
          <p:cNvSpPr>
            <a:spLocks noGrp="1"/>
          </p:cNvSpPr>
          <p:nvPr>
            <p:ph type="body" orient="vert" idx="1" hasCustomPrompt="1"/>
          </p:nvPr>
        </p:nvSpPr>
        <p:spPr>
          <a:xfrm>
            <a:off x="774923" y="675726"/>
            <a:ext cx="7896279" cy="5183073"/>
          </a:xfrm>
        </p:spPr>
        <p:txBody>
          <a:bodyPr vert="eaVert" rtlCol="0" anchor="t"/>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A06512CE-127A-4A92-B425-5C3D57FDA44B}" type="datetime1">
              <a:rPr lang="sv-SE" noProof="0" smtClean="0"/>
              <a:t>2026-09-24</a:t>
            </a:fld>
            <a:endParaRPr lang="sv-SE" noProof="0"/>
          </a:p>
        </p:txBody>
      </p:sp>
      <p:sp>
        <p:nvSpPr>
          <p:cNvPr id="5" name="Platshållare för sidfot 4"/>
          <p:cNvSpPr>
            <a:spLocks noGrp="1"/>
          </p:cNvSpPr>
          <p:nvPr>
            <p:ph type="ftr" sz="quarter" idx="11"/>
          </p:nvPr>
        </p:nvSpPr>
        <p:spPr>
          <a:xfrm>
            <a:off x="774923" y="5951811"/>
            <a:ext cx="7896279" cy="365125"/>
          </a:xfrm>
        </p:spPr>
        <p:txBody>
          <a:bodyPr rtlCol="0"/>
          <a:lstStyle/>
          <a:p>
            <a:pPr rtl="0"/>
            <a:endParaRPr lang="sv-SE" noProof="0"/>
          </a:p>
        </p:txBody>
      </p:sp>
      <p:sp>
        <p:nvSpPr>
          <p:cNvPr id="6" name="Platshållare för bildnummer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sv-SE" noProof="0" smtClean="0"/>
              <a:pPr rtl="0"/>
              <a:t>‹#›</a:t>
            </a:fld>
            <a:endParaRPr lang="sv-SE" noProof="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sv-SE" noProof="0"/>
              <a:t>Klicka här för att ändra format</a:t>
            </a:r>
          </a:p>
        </p:txBody>
      </p:sp>
      <p:sp>
        <p:nvSpPr>
          <p:cNvPr id="3" name="Platshållare för text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sv-SE" noProof="0"/>
              <a:t>Redigera format för bakgrundstext</a:t>
            </a:r>
          </a:p>
          <a:p>
            <a:pPr lvl="1" rtl="0"/>
            <a:r>
              <a:rPr lang="sv-SE" noProof="0"/>
              <a:t>Nivå två</a:t>
            </a:r>
          </a:p>
          <a:p>
            <a:pPr lvl="2" rtl="0"/>
            <a:r>
              <a:rPr lang="sv-SE" noProof="0"/>
              <a:t>Nivå tre</a:t>
            </a:r>
          </a:p>
          <a:p>
            <a:pPr lvl="3" rtl="0"/>
            <a:r>
              <a:rPr lang="sv-SE" noProof="0"/>
              <a:t>Nivå fyra</a:t>
            </a:r>
          </a:p>
          <a:p>
            <a:pPr lvl="4" rtl="0"/>
            <a:r>
              <a:rPr lang="sv-SE" noProof="0"/>
              <a:t>Nivå fem</a:t>
            </a:r>
          </a:p>
        </p:txBody>
      </p:sp>
      <p:sp>
        <p:nvSpPr>
          <p:cNvPr id="4" name="Platshållare för datum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DCB5594E-A726-475C-AA0A-CE0BD647288B}" type="datetime1">
              <a:rPr lang="sv-SE" noProof="0" smtClean="0"/>
              <a:t>2026-09-24</a:t>
            </a:fld>
            <a:endParaRPr lang="sv-SE" noProof="0"/>
          </a:p>
        </p:txBody>
      </p:sp>
      <p:sp>
        <p:nvSpPr>
          <p:cNvPr id="5" name="Platshållare för sidfot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sv-SE" noProof="0"/>
          </a:p>
        </p:txBody>
      </p:sp>
      <p:sp>
        <p:nvSpPr>
          <p:cNvPr id="6" name="Platshållare för bildnumm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sv-SE" noProof="0" smtClean="0"/>
              <a:pPr rtl="0"/>
              <a:t>‹#›</a:t>
            </a:fld>
            <a:endParaRPr lang="sv-SE" noProof="0"/>
          </a:p>
        </p:txBody>
      </p:sp>
      <p:sp>
        <p:nvSpPr>
          <p:cNvPr id="9" name="Rektangulär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10" name="Rektangulär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11" name="Rektangulär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RAG (Retrieval Augmented Generation) for Smarter Conversations: Fast  Adapting LLMs with External Knowledge | by Sergio Perez Rodriguez | Medium">
            <a:extLst>
              <a:ext uri="{FF2B5EF4-FFF2-40B4-BE49-F238E27FC236}">
                <a16:creationId xmlns:a16="http://schemas.microsoft.com/office/drawing/2014/main" id="{EE9E7145-9D1D-E84D-0289-4147A982F9A9}"/>
              </a:ext>
            </a:extLst>
          </p:cNvPr>
          <p:cNvPicPr>
            <a:picLocks noChangeAspect="1"/>
          </p:cNvPicPr>
          <p:nvPr/>
        </p:nvPicPr>
        <p:blipFill>
          <a:blip r:embed="rId3"/>
          <a:srcRect t="6228" b="9503"/>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717454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074705-3398-C773-8ED1-B1EA83E984B2}"/>
            </a:ext>
          </a:extLst>
        </p:cNvPr>
        <p:cNvGrpSpPr/>
        <p:nvPr/>
      </p:nvGrpSpPr>
      <p:grpSpPr>
        <a:xfrm>
          <a:off x="0" y="0"/>
          <a:ext cx="0" cy="0"/>
          <a:chOff x="0" y="0"/>
          <a:chExt cx="0" cy="0"/>
        </a:xfrm>
      </p:grpSpPr>
      <p:sp useBgFill="1">
        <p:nvSpPr>
          <p:cNvPr id="13" name="Rektangulär 12">
            <a:extLst>
              <a:ext uri="{FF2B5EF4-FFF2-40B4-BE49-F238E27FC236}">
                <a16:creationId xmlns:a16="http://schemas.microsoft.com/office/drawing/2014/main" id="{DD7DAAC4-DED4-5E7D-F1A8-B3474616D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pic>
        <p:nvPicPr>
          <p:cNvPr id="8" name="Platshållare för innehåll 4" descr="Digitala tal">
            <a:extLst>
              <a:ext uri="{FF2B5EF4-FFF2-40B4-BE49-F238E27FC236}">
                <a16:creationId xmlns:a16="http://schemas.microsoft.com/office/drawing/2014/main" id="{DCF32E46-D8DD-3171-A180-C9C668B13ED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upp 14">
            <a:extLst>
              <a:ext uri="{FF2B5EF4-FFF2-40B4-BE49-F238E27FC236}">
                <a16:creationId xmlns:a16="http://schemas.microsoft.com/office/drawing/2014/main" id="{2DBA8E95-FE5A-20F9-E9EC-2E64271EC1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ktangulär 15">
              <a:extLst>
                <a:ext uri="{FF2B5EF4-FFF2-40B4-BE49-F238E27FC236}">
                  <a16:creationId xmlns:a16="http://schemas.microsoft.com/office/drawing/2014/main" id="{BD54BA9A-9669-6953-0EF4-7F50F5A7A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17" name="Rektangulär 16">
              <a:extLst>
                <a:ext uri="{FF2B5EF4-FFF2-40B4-BE49-F238E27FC236}">
                  <a16:creationId xmlns:a16="http://schemas.microsoft.com/office/drawing/2014/main" id="{B598A82E-A971-033F-813D-18B5EC6E0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18" name="Rektangulär 17">
              <a:extLst>
                <a:ext uri="{FF2B5EF4-FFF2-40B4-BE49-F238E27FC236}">
                  <a16:creationId xmlns:a16="http://schemas.microsoft.com/office/drawing/2014/main" id="{756C66D4-0900-80CA-4A80-7327815AB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grpSp>
      <p:sp>
        <p:nvSpPr>
          <p:cNvPr id="2" name="Rubrik 1">
            <a:extLst>
              <a:ext uri="{FF2B5EF4-FFF2-40B4-BE49-F238E27FC236}">
                <a16:creationId xmlns:a16="http://schemas.microsoft.com/office/drawing/2014/main" id="{5532D228-5871-5FD9-C03E-52A072718A82}"/>
              </a:ext>
            </a:extLst>
          </p:cNvPr>
          <p:cNvSpPr>
            <a:spLocks noGrp="1"/>
          </p:cNvSpPr>
          <p:nvPr>
            <p:ph type="title"/>
          </p:nvPr>
        </p:nvSpPr>
        <p:spPr>
          <a:xfrm>
            <a:off x="584200" y="1006956"/>
            <a:ext cx="7213600" cy="1121871"/>
          </a:xfrm>
        </p:spPr>
        <p:txBody>
          <a:bodyPr rtlCol="0" anchor="ctr">
            <a:normAutofit/>
          </a:bodyPr>
          <a:lstStyle/>
          <a:p>
            <a:pPr algn="ctr" rtl="0"/>
            <a:r>
              <a:rPr lang="sv-SE" dirty="0"/>
              <a:t>Tekniska termer att minnas</a:t>
            </a:r>
          </a:p>
        </p:txBody>
      </p:sp>
      <p:graphicFrame>
        <p:nvGraphicFramePr>
          <p:cNvPr id="6" name="Platshållare för innehåll 5" descr="SmartArt">
            <a:extLst>
              <a:ext uri="{FF2B5EF4-FFF2-40B4-BE49-F238E27FC236}">
                <a16:creationId xmlns:a16="http://schemas.microsoft.com/office/drawing/2014/main" id="{8ABBBDDF-B892-3F3C-D7FC-D26C44ED04AC}"/>
              </a:ext>
            </a:extLst>
          </p:cNvPr>
          <p:cNvGraphicFramePr>
            <a:graphicFrameLocks noGrp="1"/>
          </p:cNvGraphicFramePr>
          <p:nvPr>
            <p:ph idx="1"/>
            <p:extLst>
              <p:ext uri="{D42A27DB-BD31-4B8C-83A1-F6EECF244321}">
                <p14:modId xmlns:p14="http://schemas.microsoft.com/office/powerpoint/2010/main" val="3598968024"/>
              </p:ext>
            </p:extLst>
          </p:nvPr>
        </p:nvGraphicFramePr>
        <p:xfrm>
          <a:off x="719571" y="2198254"/>
          <a:ext cx="6854248" cy="35639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94362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586FBF-5626-6D80-8883-089723AF2BC4}"/>
              </a:ext>
            </a:extLst>
          </p:cNvPr>
          <p:cNvSpPr>
            <a:spLocks noGrp="1"/>
          </p:cNvSpPr>
          <p:nvPr>
            <p:ph type="title"/>
          </p:nvPr>
        </p:nvSpPr>
        <p:spPr/>
        <p:txBody>
          <a:bodyPr/>
          <a:lstStyle/>
          <a:p>
            <a:r>
              <a:rPr lang="sv-SE" dirty="0"/>
              <a:t>Utvärdering och kvalitetssäkring</a:t>
            </a:r>
            <a:br>
              <a:rPr lang="sv-SE" dirty="0"/>
            </a:br>
            <a:r>
              <a:rPr lang="sv-SE" dirty="0"/>
              <a:t>av RAG APPLIKATION</a:t>
            </a:r>
          </a:p>
        </p:txBody>
      </p:sp>
      <p:graphicFrame>
        <p:nvGraphicFramePr>
          <p:cNvPr id="7" name="Content Placeholder 6">
            <a:extLst>
              <a:ext uri="{FF2B5EF4-FFF2-40B4-BE49-F238E27FC236}">
                <a16:creationId xmlns:a16="http://schemas.microsoft.com/office/drawing/2014/main" id="{5D00417D-C099-FE68-5C2B-EAD8AF6D4306}"/>
              </a:ext>
            </a:extLst>
          </p:cNvPr>
          <p:cNvGraphicFramePr>
            <a:graphicFrameLocks noGrp="1"/>
          </p:cNvGraphicFramePr>
          <p:nvPr>
            <p:ph idx="1"/>
            <p:extLst>
              <p:ext uri="{D42A27DB-BD31-4B8C-83A1-F6EECF244321}">
                <p14:modId xmlns:p14="http://schemas.microsoft.com/office/powerpoint/2010/main" val="1908595112"/>
              </p:ext>
            </p:extLst>
          </p:nvPr>
        </p:nvGraphicFramePr>
        <p:xfrm>
          <a:off x="581191" y="2569532"/>
          <a:ext cx="11029616" cy="2794404"/>
        </p:xfrm>
        <a:graphic>
          <a:graphicData uri="http://schemas.openxmlformats.org/drawingml/2006/table">
            <a:tbl>
              <a:tblPr firstRow="1" firstCol="1" bandRow="1">
                <a:tableStyleId>{D113A9D2-9D6B-4929-AA2D-F23B5EE8CBE7}</a:tableStyleId>
              </a:tblPr>
              <a:tblGrid>
                <a:gridCol w="2757404">
                  <a:extLst>
                    <a:ext uri="{9D8B030D-6E8A-4147-A177-3AD203B41FA5}">
                      <a16:colId xmlns:a16="http://schemas.microsoft.com/office/drawing/2014/main" val="3552468678"/>
                    </a:ext>
                  </a:extLst>
                </a:gridCol>
                <a:gridCol w="2757404">
                  <a:extLst>
                    <a:ext uri="{9D8B030D-6E8A-4147-A177-3AD203B41FA5}">
                      <a16:colId xmlns:a16="http://schemas.microsoft.com/office/drawing/2014/main" val="3187604027"/>
                    </a:ext>
                  </a:extLst>
                </a:gridCol>
                <a:gridCol w="2757404">
                  <a:extLst>
                    <a:ext uri="{9D8B030D-6E8A-4147-A177-3AD203B41FA5}">
                      <a16:colId xmlns:a16="http://schemas.microsoft.com/office/drawing/2014/main" val="2618197613"/>
                    </a:ext>
                  </a:extLst>
                </a:gridCol>
                <a:gridCol w="2757404">
                  <a:extLst>
                    <a:ext uri="{9D8B030D-6E8A-4147-A177-3AD203B41FA5}">
                      <a16:colId xmlns:a16="http://schemas.microsoft.com/office/drawing/2014/main" val="623102977"/>
                    </a:ext>
                  </a:extLst>
                </a:gridCol>
              </a:tblGrid>
              <a:tr h="931468">
                <a:tc>
                  <a:txBody>
                    <a:bodyPr/>
                    <a:lstStyle/>
                    <a:p>
                      <a:pPr algn="ctr"/>
                      <a:r>
                        <a:rPr lang="en-GB" dirty="0" err="1"/>
                        <a:t>Parametrar</a:t>
                      </a:r>
                      <a:endParaRPr lang="sv-SE" dirty="0"/>
                    </a:p>
                  </a:txBody>
                  <a:tcPr anchor="ctr"/>
                </a:tc>
                <a:tc>
                  <a:txBody>
                    <a:bodyPr/>
                    <a:lstStyle/>
                    <a:p>
                      <a:pPr algn="ctr"/>
                      <a:r>
                        <a:rPr lang="en-GB" dirty="0"/>
                        <a:t>Chunk </a:t>
                      </a:r>
                      <a:r>
                        <a:rPr lang="en-GB" dirty="0" err="1"/>
                        <a:t>storlek</a:t>
                      </a:r>
                      <a:r>
                        <a:rPr lang="en-GB" dirty="0"/>
                        <a:t> 1</a:t>
                      </a:r>
                      <a:endParaRPr lang="sv-SE"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dirty="0"/>
                        <a:t>Chunk </a:t>
                      </a:r>
                      <a:r>
                        <a:rPr lang="en-GB" dirty="0" err="1"/>
                        <a:t>storlek</a:t>
                      </a:r>
                      <a:r>
                        <a:rPr lang="en-GB" dirty="0"/>
                        <a:t> 2</a:t>
                      </a:r>
                      <a:endParaRPr lang="sv-SE" dirty="0"/>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dirty="0"/>
                        <a:t>Chunk </a:t>
                      </a:r>
                      <a:r>
                        <a:rPr lang="en-GB" dirty="0" err="1"/>
                        <a:t>storlek</a:t>
                      </a:r>
                      <a:r>
                        <a:rPr lang="en-GB" dirty="0"/>
                        <a:t> 3</a:t>
                      </a:r>
                      <a:endParaRPr lang="sv-SE" dirty="0"/>
                    </a:p>
                  </a:txBody>
                  <a:tcPr anchor="ctr"/>
                </a:tc>
                <a:extLst>
                  <a:ext uri="{0D108BD9-81ED-4DB2-BD59-A6C34878D82A}">
                    <a16:rowId xmlns:a16="http://schemas.microsoft.com/office/drawing/2014/main" val="786388040"/>
                  </a:ext>
                </a:extLst>
              </a:tr>
              <a:tr h="931468">
                <a:tc>
                  <a:txBody>
                    <a:bodyPr/>
                    <a:lstStyle/>
                    <a:p>
                      <a:pPr algn="ctr"/>
                      <a:r>
                        <a:rPr lang="en-GB" dirty="0"/>
                        <a:t>Retrieval quality</a:t>
                      </a:r>
                      <a:endParaRPr lang="sv-SE" dirty="0"/>
                    </a:p>
                  </a:txBody>
                  <a:tcPr anchor="ctr"/>
                </a:tc>
                <a:tc>
                  <a:txBody>
                    <a:bodyPr/>
                    <a:lstStyle/>
                    <a:p>
                      <a:pPr algn="ctr"/>
                      <a:endParaRPr lang="sv-SE" dirty="0"/>
                    </a:p>
                  </a:txBody>
                  <a:tcPr anchor="ctr"/>
                </a:tc>
                <a:tc>
                  <a:txBody>
                    <a:bodyPr/>
                    <a:lstStyle/>
                    <a:p>
                      <a:pPr algn="ctr"/>
                      <a:endParaRPr lang="sv-SE"/>
                    </a:p>
                  </a:txBody>
                  <a:tcPr anchor="ctr"/>
                </a:tc>
                <a:tc>
                  <a:txBody>
                    <a:bodyPr/>
                    <a:lstStyle/>
                    <a:p>
                      <a:pPr algn="ctr"/>
                      <a:endParaRPr lang="sv-SE" dirty="0"/>
                    </a:p>
                  </a:txBody>
                  <a:tcPr anchor="ctr"/>
                </a:tc>
                <a:extLst>
                  <a:ext uri="{0D108BD9-81ED-4DB2-BD59-A6C34878D82A}">
                    <a16:rowId xmlns:a16="http://schemas.microsoft.com/office/drawing/2014/main" val="2241785825"/>
                  </a:ext>
                </a:extLst>
              </a:tr>
              <a:tr h="931468">
                <a:tc>
                  <a:txBody>
                    <a:bodyPr/>
                    <a:lstStyle/>
                    <a:p>
                      <a:pPr algn="ctr"/>
                      <a:r>
                        <a:rPr lang="en-GB" dirty="0"/>
                        <a:t>Answer correctness</a:t>
                      </a:r>
                      <a:endParaRPr lang="sv-SE" dirty="0"/>
                    </a:p>
                  </a:txBody>
                  <a:tcPr anchor="ctr"/>
                </a:tc>
                <a:tc>
                  <a:txBody>
                    <a:bodyPr/>
                    <a:lstStyle/>
                    <a:p>
                      <a:pPr algn="ctr"/>
                      <a:endParaRPr lang="sv-SE"/>
                    </a:p>
                  </a:txBody>
                  <a:tcPr anchor="ctr"/>
                </a:tc>
                <a:tc>
                  <a:txBody>
                    <a:bodyPr/>
                    <a:lstStyle/>
                    <a:p>
                      <a:pPr algn="ctr"/>
                      <a:endParaRPr lang="sv-SE"/>
                    </a:p>
                  </a:txBody>
                  <a:tcPr anchor="ctr"/>
                </a:tc>
                <a:tc>
                  <a:txBody>
                    <a:bodyPr/>
                    <a:lstStyle/>
                    <a:p>
                      <a:pPr algn="ctr"/>
                      <a:endParaRPr lang="sv-SE" dirty="0"/>
                    </a:p>
                  </a:txBody>
                  <a:tcPr anchor="ctr"/>
                </a:tc>
                <a:extLst>
                  <a:ext uri="{0D108BD9-81ED-4DB2-BD59-A6C34878D82A}">
                    <a16:rowId xmlns:a16="http://schemas.microsoft.com/office/drawing/2014/main" val="639293921"/>
                  </a:ext>
                </a:extLst>
              </a:tr>
            </a:tbl>
          </a:graphicData>
        </a:graphic>
      </p:graphicFrame>
    </p:spTree>
    <p:extLst>
      <p:ext uri="{BB962C8B-B14F-4D97-AF65-F5344CB8AC3E}">
        <p14:creationId xmlns:p14="http://schemas.microsoft.com/office/powerpoint/2010/main" val="706721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DCF8287-CE2F-DEDB-3378-66C272C9E045}"/>
              </a:ext>
              <a:ext uri="{C183D7F6-B498-43B3-948B-1728B52AA6E4}">
                <adec:decorative xmlns:adec="http://schemas.microsoft.com/office/drawing/2017/decorative" val="1"/>
              </a:ext>
            </a:extLst>
          </p:cNvPr>
          <p:cNvPicPr>
            <a:picLocks noGrp="1" noChangeAspect="1"/>
          </p:cNvPicPr>
          <p:nvPr>
            <p:ph type="pic" idx="1"/>
          </p:nvPr>
        </p:nvPicPr>
        <p:blipFill>
          <a:blip r:embed="rId3"/>
          <a:stretch/>
        </p:blipFill>
        <p:spPr>
          <a:xfrm>
            <a:off x="1475008" y="620713"/>
            <a:ext cx="9241984" cy="6169025"/>
          </a:xfrm>
          <a:prstGeom prst="rect">
            <a:avLst/>
          </a:prstGeom>
          <a:noFill/>
        </p:spPr>
      </p:pic>
    </p:spTree>
    <p:extLst>
      <p:ext uri="{BB962C8B-B14F-4D97-AF65-F5344CB8AC3E}">
        <p14:creationId xmlns:p14="http://schemas.microsoft.com/office/powerpoint/2010/main" val="2392685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21633EB-7DCB-4DDC-80AF-C885A3EE1245}"/>
              </a:ext>
            </a:extLst>
          </p:cNvPr>
          <p:cNvSpPr>
            <a:spLocks noGrp="1"/>
          </p:cNvSpPr>
          <p:nvPr>
            <p:ph type="title"/>
          </p:nvPr>
        </p:nvSpPr>
        <p:spPr/>
        <p:txBody>
          <a:bodyPr rtlCol="0"/>
          <a:lstStyle/>
          <a:p>
            <a:pPr rtl="0"/>
            <a:r>
              <a:rPr lang="sv-SE" dirty="0"/>
              <a:t>Resultatet</a:t>
            </a:r>
          </a:p>
        </p:txBody>
      </p:sp>
      <p:sp>
        <p:nvSpPr>
          <p:cNvPr id="3" name="Text Placeholder 2">
            <a:extLst>
              <a:ext uri="{FF2B5EF4-FFF2-40B4-BE49-F238E27FC236}">
                <a16:creationId xmlns:a16="http://schemas.microsoft.com/office/drawing/2014/main" id="{B9384E68-F075-D482-282E-EE446FDEF202}"/>
              </a:ext>
            </a:extLst>
          </p:cNvPr>
          <p:cNvSpPr>
            <a:spLocks noGrp="1"/>
          </p:cNvSpPr>
          <p:nvPr>
            <p:ph type="body" idx="1"/>
          </p:nvPr>
        </p:nvSpPr>
        <p:spPr>
          <a:xfrm>
            <a:off x="6523734" y="2272934"/>
            <a:ext cx="5087075" cy="536005"/>
          </a:xfrm>
        </p:spPr>
        <p:txBody>
          <a:bodyPr/>
          <a:lstStyle/>
          <a:p>
            <a:r>
              <a:rPr lang="en-GB" dirty="0"/>
              <a:t>Answer correctness </a:t>
            </a:r>
            <a:r>
              <a:rPr lang="en-GB" dirty="0" err="1"/>
              <a:t>enligt</a:t>
            </a:r>
            <a:r>
              <a:rPr lang="en-GB" dirty="0"/>
              <a:t> </a:t>
            </a:r>
            <a:r>
              <a:rPr lang="en-GB" dirty="0" err="1"/>
              <a:t>chunkstorlekar</a:t>
            </a:r>
            <a:endParaRPr lang="sv-SE" dirty="0"/>
          </a:p>
        </p:txBody>
      </p:sp>
      <p:pic>
        <p:nvPicPr>
          <p:cNvPr id="11" name="Platshållare för innehåll 4">
            <a:extLst>
              <a:ext uri="{FF2B5EF4-FFF2-40B4-BE49-F238E27FC236}">
                <a16:creationId xmlns:a16="http://schemas.microsoft.com/office/drawing/2014/main" id="{47D9BE16-119C-43B2-9AE6-18C4A150C0EF}"/>
              </a:ext>
            </a:extLst>
          </p:cNvPr>
          <p:cNvPicPr>
            <a:picLocks noGrp="1" noChangeAspect="1"/>
          </p:cNvPicPr>
          <p:nvPr>
            <p:ph sz="half" idx="2"/>
          </p:nvPr>
        </p:nvPicPr>
        <p:blipFill>
          <a:blip r:embed="rId3"/>
          <a:srcRect/>
          <a:stretch/>
        </p:blipFill>
        <p:spPr>
          <a:xfrm>
            <a:off x="6718795" y="3129870"/>
            <a:ext cx="4390679" cy="2935287"/>
          </a:xfrm>
        </p:spPr>
      </p:pic>
      <p:sp>
        <p:nvSpPr>
          <p:cNvPr id="4" name="Text Placeholder 3">
            <a:extLst>
              <a:ext uri="{FF2B5EF4-FFF2-40B4-BE49-F238E27FC236}">
                <a16:creationId xmlns:a16="http://schemas.microsoft.com/office/drawing/2014/main" id="{7474082B-3CEA-ABF6-7C30-85F151FA0054}"/>
              </a:ext>
            </a:extLst>
          </p:cNvPr>
          <p:cNvSpPr>
            <a:spLocks noGrp="1"/>
          </p:cNvSpPr>
          <p:nvPr>
            <p:ph type="body" sz="quarter" idx="3"/>
          </p:nvPr>
        </p:nvSpPr>
        <p:spPr>
          <a:xfrm>
            <a:off x="1025376" y="2272934"/>
            <a:ext cx="5087073" cy="553373"/>
          </a:xfrm>
        </p:spPr>
        <p:txBody>
          <a:bodyPr/>
          <a:lstStyle/>
          <a:p>
            <a:r>
              <a:rPr lang="en-GB" dirty="0"/>
              <a:t>Retrieval quality </a:t>
            </a:r>
            <a:r>
              <a:rPr lang="en-GB" dirty="0" err="1"/>
              <a:t>enligt</a:t>
            </a:r>
            <a:r>
              <a:rPr lang="en-GB" dirty="0"/>
              <a:t> </a:t>
            </a:r>
            <a:r>
              <a:rPr lang="en-GB" dirty="0" err="1"/>
              <a:t>chunkstorlekar</a:t>
            </a:r>
            <a:endParaRPr lang="sv-SE" dirty="0"/>
          </a:p>
        </p:txBody>
      </p:sp>
      <p:pic>
        <p:nvPicPr>
          <p:cNvPr id="8" name="Content Placeholder 7">
            <a:extLst>
              <a:ext uri="{FF2B5EF4-FFF2-40B4-BE49-F238E27FC236}">
                <a16:creationId xmlns:a16="http://schemas.microsoft.com/office/drawing/2014/main" id="{FE5564E8-6F59-163A-E7BD-E88BF00E2858}"/>
              </a:ext>
            </a:extLst>
          </p:cNvPr>
          <p:cNvPicPr>
            <a:picLocks noGrp="1" noChangeAspect="1"/>
          </p:cNvPicPr>
          <p:nvPr>
            <p:ph sz="quarter" idx="4"/>
          </p:nvPr>
        </p:nvPicPr>
        <p:blipFill>
          <a:blip r:embed="rId4"/>
          <a:stretch>
            <a:fillRect/>
          </a:stretch>
        </p:blipFill>
        <p:spPr>
          <a:xfrm>
            <a:off x="1025376" y="3129869"/>
            <a:ext cx="4696459" cy="2935287"/>
          </a:xfrm>
          <a:prstGeom prst="rect">
            <a:avLst/>
          </a:prstGeom>
        </p:spPr>
      </p:pic>
    </p:spTree>
    <p:extLst>
      <p:ext uri="{BB962C8B-B14F-4D97-AF65-F5344CB8AC3E}">
        <p14:creationId xmlns:p14="http://schemas.microsoft.com/office/powerpoint/2010/main" val="497607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ktangulär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ktangulär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grpSp>
        <p:nvGrpSpPr>
          <p:cNvPr id="14" name="Grup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ktangulär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16" name="Rektangulär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sp>
          <p:nvSpPr>
            <p:cNvPr id="17" name="Rektangulär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sv-SE"/>
            </a:p>
          </p:txBody>
        </p:sp>
      </p:grpSp>
      <p:sp>
        <p:nvSpPr>
          <p:cNvPr id="2" name="Rubrik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rtlCol="0">
            <a:normAutofit/>
          </a:bodyPr>
          <a:lstStyle/>
          <a:p>
            <a:pPr rtl="0"/>
            <a:r>
              <a:rPr lang="sv-SE" dirty="0">
                <a:solidFill>
                  <a:srgbClr val="FFFFFF"/>
                </a:solidFill>
              </a:rPr>
              <a:t>Frågor? </a:t>
            </a:r>
          </a:p>
        </p:txBody>
      </p:sp>
      <p:sp>
        <p:nvSpPr>
          <p:cNvPr id="3" name="Underrubrik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rtlCol="0">
            <a:normAutofit/>
          </a:bodyPr>
          <a:lstStyle/>
          <a:p>
            <a:pPr rtl="0"/>
            <a:endParaRPr lang="sv-SE" dirty="0">
              <a:solidFill>
                <a:schemeClr val="bg2"/>
              </a:solidFill>
            </a:endParaRPr>
          </a:p>
          <a:p>
            <a:pPr rtl="0"/>
            <a:endParaRPr lang="sv-SE" dirty="0">
              <a:solidFill>
                <a:schemeClr val="bg2"/>
              </a:solidFill>
            </a:endParaRPr>
          </a:p>
        </p:txBody>
      </p:sp>
      <p:pic>
        <p:nvPicPr>
          <p:cNvPr id="5" name="Bild 4" descr="Digitala tal">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Utdelning">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209663_TF56390039_Win32" id="{512CAAF2-55AC-4764-9793-ACA9CDF7E070}" vid="{5E4AEA16-257D-4B1F-99E2-19586E6F41D2}"/>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{9119EB58-F77A-4B8F-92B3-488CF49B96E1}TF9cd6fad6-da1d-416b-8dc8-a086cd1045b105d72eac_win32-0d44e97557c9</Template>
  <TotalTime>161</TotalTime>
  <Words>770</Words>
  <Application>Microsoft Office PowerPoint</Application>
  <PresentationFormat>Widescreen</PresentationFormat>
  <Paragraphs>67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Gill Sans MT</vt:lpstr>
      <vt:lpstr>Wingdings 2</vt:lpstr>
      <vt:lpstr>Utdelning</vt:lpstr>
      <vt:lpstr>PowerPoint Presentation</vt:lpstr>
      <vt:lpstr>Tekniska termer att minnas</vt:lpstr>
      <vt:lpstr>Utvärdering och kvalitetssäkring av RAG APPLIKATION</vt:lpstr>
      <vt:lpstr>PowerPoint Presentation</vt:lpstr>
      <vt:lpstr>Resultatet</vt:lpstr>
      <vt:lpstr>Frågor?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Linnéa Moreira Emanuelsson</dc:creator>
  <cp:lastModifiedBy>Linnéa Moreira Emanuelsson</cp:lastModifiedBy>
  <cp:revision>36</cp:revision>
  <dcterms:created xsi:type="dcterms:W3CDTF">2026-09-23T12:59:07Z</dcterms:created>
  <dcterms:modified xsi:type="dcterms:W3CDTF">2026-09-24T10:16:38Z</dcterms:modified>
</cp:coreProperties>
</file>